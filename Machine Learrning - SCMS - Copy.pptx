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7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77"/>
      <p:bold r:id="rId78"/>
      <p:italic r:id="rId79"/>
      <p:boldItalic r:id="rId80"/>
    </p:embeddedFont>
    <p:embeddedFont>
      <p:font typeface="Lato" panose="020F0502020204030203" pitchFamily="34" charset="0"/>
      <p:regular r:id="rId81"/>
      <p:bold r:id="rId82"/>
      <p:italic r:id="rId83"/>
      <p:boldItalic r:id="rId84"/>
    </p:embeddedFont>
    <p:embeddedFont>
      <p:font typeface="Overpass" panose="020B0604020202020204" charset="0"/>
      <p:regular r:id="rId85"/>
      <p:bold r:id="rId86"/>
      <p:italic r:id="rId87"/>
      <p:boldItalic r:id="rId88"/>
    </p:embeddedFont>
    <p:embeddedFont>
      <p:font typeface="Raleway" pitchFamily="2" charset="0"/>
      <p:regular r:id="rId89"/>
      <p:bold r:id="rId90"/>
      <p:italic r:id="rId91"/>
      <p:boldItalic r:id="rId92"/>
    </p:embeddedFont>
    <p:embeddedFont>
      <p:font typeface="Verdana" panose="020B0604030504040204" pitchFamily="34" charset="0"/>
      <p:regular r:id="rId93"/>
      <p:bold r:id="rId94"/>
      <p:italic r:id="rId95"/>
      <p:boldItalic r:id="rId9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36A2558-8B2F-41B4-BA36-D2474350B953}">
  <a:tblStyle styleId="{036A2558-8B2F-41B4-BA36-D2474350B9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8.fntdata"/><Relationship Id="rId89" Type="http://schemas.openxmlformats.org/officeDocument/2006/relationships/font" Target="fonts/font13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3.fntdata"/><Relationship Id="rId5" Type="http://schemas.openxmlformats.org/officeDocument/2006/relationships/slide" Target="slides/slide4.xml"/><Relationship Id="rId90" Type="http://schemas.openxmlformats.org/officeDocument/2006/relationships/font" Target="fonts/font14.fntdata"/><Relationship Id="rId95" Type="http://schemas.openxmlformats.org/officeDocument/2006/relationships/font" Target="fonts/font19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font" Target="fonts/font4.fntdata"/><Relationship Id="rId85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7.fntdata"/><Relationship Id="rId88" Type="http://schemas.openxmlformats.org/officeDocument/2006/relationships/font" Target="fonts/font12.fntdata"/><Relationship Id="rId91" Type="http://schemas.openxmlformats.org/officeDocument/2006/relationships/font" Target="fonts/font15.fntdata"/><Relationship Id="rId96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2.fntdata"/><Relationship Id="rId81" Type="http://schemas.openxmlformats.org/officeDocument/2006/relationships/font" Target="fonts/font5.fntdata"/><Relationship Id="rId86" Type="http://schemas.openxmlformats.org/officeDocument/2006/relationships/font" Target="fonts/font10.fntdata"/><Relationship Id="rId94" Type="http://schemas.openxmlformats.org/officeDocument/2006/relationships/font" Target="fonts/font18.fntdata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1.fntdata"/><Relationship Id="rId61" Type="http://schemas.openxmlformats.org/officeDocument/2006/relationships/slide" Target="slides/slide60.xml"/><Relationship Id="rId82" Type="http://schemas.openxmlformats.org/officeDocument/2006/relationships/font" Target="fonts/font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font" Target="fonts/font1.fntdata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7.fntdata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75ed82e4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b75ed82e4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75ed82e4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b75ed82e4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75ed82e4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b75ed82e4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75ed82e4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3b75ed82e4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75ed82e4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b75ed82e4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75ed82e4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b75ed82e4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75ed82e4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b75ed82e4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75ed82e46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b75ed82e46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75ed82e46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3b75ed82e46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75ed82e46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b75ed82e46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75ed82e4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b75ed82e4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792de262e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792de262e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792de262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792de262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792de262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792de262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792de262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792de262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792de262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792de262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792de262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792de262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792de262e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792de262e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792de262e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792de262e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792de262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b792de262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792de262e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792de262e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792de262e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792de262e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792de262e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b792de262e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792de262e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b792de262e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b="1">
                <a:solidFill>
                  <a:schemeClr val="dk1"/>
                </a:solidFill>
              </a:rPr>
              <a:t>High precision</a:t>
            </a:r>
            <a:r>
              <a:rPr lang="en-GB">
                <a:solidFill>
                  <a:schemeClr val="dk1"/>
                </a:solidFill>
              </a:rPr>
              <a:t> → When the model predicts positive, it is usually correct.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b="1">
                <a:solidFill>
                  <a:schemeClr val="dk1"/>
                </a:solidFill>
              </a:rPr>
              <a:t>High recall</a:t>
            </a:r>
            <a:r>
              <a:rPr lang="en-GB">
                <a:solidFill>
                  <a:schemeClr val="dk1"/>
                </a:solidFill>
              </a:rPr>
              <a:t> → The model finds most of the positive cases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792de262e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b792de262e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792de262e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b792de262e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792de262e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b792de262e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b792de262e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b792de262e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b792de262e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b792de262e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86ab9693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b86ab96939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ba939994e0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ba939994e0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a939994e0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ba939994e0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a939994e0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ba939994e0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a939994e0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ba939994e0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ba939994e0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ba939994e0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a939994e0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ba939994e0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b9e859aeee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b9e859aeee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a939994e0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ba939994e0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ba939994e0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ba939994e0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a939994e0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ba939994e0_1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ba939994e0_1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ba939994e0_1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a939994e0_1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ba939994e0_1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a939994e0_1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ba939994e0_1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ba939994e0_1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ba939994e0_1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a939994e0_1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ba939994e0_1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b9e859aee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b9e859aee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b="1">
                <a:solidFill>
                  <a:schemeClr val="dk1"/>
                </a:solidFill>
              </a:rPr>
              <a:t>High precision</a:t>
            </a:r>
            <a:r>
              <a:rPr lang="en-GB">
                <a:solidFill>
                  <a:schemeClr val="dk1"/>
                </a:solidFill>
              </a:rPr>
              <a:t> → When the model predicts positive, it is usually correct.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b="1">
                <a:solidFill>
                  <a:schemeClr val="dk1"/>
                </a:solidFill>
              </a:rPr>
              <a:t>High recall</a:t>
            </a:r>
            <a:r>
              <a:rPr lang="en-GB">
                <a:solidFill>
                  <a:schemeClr val="dk1"/>
                </a:solidFill>
              </a:rPr>
              <a:t> → The model finds most of the positive cases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b9e859aee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b9e859aee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b9e859aeee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b9e859aeee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b9e859aee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b9e859aee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a939994e0_1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ba939994e0_1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bcca18ee6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bcca18ee6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bcca18ee6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bcca18ee6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bcca18ee6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bcca18ee67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bcca18ee67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bcca18ee67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bcca18ee67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bcca18ee67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bcca18ee67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bcca18ee67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cca18ee67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bcca18ee67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bcca18ee67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bcca18ee67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bcca18ee67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bcca18ee67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cca18ee67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bcca18ee67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bcca18ee67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bcca18ee67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bcca18ee67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bcca18ee67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bcca18ee67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bcca18ee67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bcca18ee6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bcca18ee6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bcca18ee6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bcca18ee67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bcca18ee6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bcca18ee67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bcca18ee67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bcca18ee67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bcca18ee67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bcca18ee67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ba939994e0_1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ba939994e0_1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ba939994e0_1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ba939994e0_1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bcca18ee67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bcca18ee67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bcca18ee6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bcca18ee6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bcca18ee67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bcca18ee67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spiceworks.com/tech/artificial-intelligence/articles/what-is-decision-tree/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Calibri"/>
                <a:ea typeface="Calibri"/>
                <a:cs typeface="Calibri"/>
                <a:sym typeface="Calibri"/>
              </a:rPr>
              <a:t>K-Nearest Neighbors (KNN)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latin typeface="Overpass"/>
                <a:ea typeface="Overpass"/>
                <a:cs typeface="Overpass"/>
                <a:sym typeface="Overpass"/>
              </a:rPr>
              <a:t>Assumptions of KNN</a:t>
            </a:r>
            <a:endParaRPr sz="3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Similar points exist in close proximity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342900" lvl="0" indent="-2413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Data is meaningful in distance space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342900" lvl="0" indent="-241300" algn="l" rtl="0">
              <a:spcBef>
                <a:spcPts val="640"/>
              </a:spcBef>
              <a:spcAft>
                <a:spcPts val="120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All features contribute equally unless scaled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latin typeface="Overpass"/>
                <a:ea typeface="Overpass"/>
                <a:cs typeface="Overpass"/>
                <a:sym typeface="Overpass"/>
              </a:rPr>
              <a:t>Euclidean Distance</a:t>
            </a:r>
            <a:endParaRPr sz="3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5333325" y="1735050"/>
            <a:ext cx="3585300" cy="17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Example: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Point A(2,3), Point B(5,7)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Distance = sqrt(9 + 16) = 5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 t="26540"/>
          <a:stretch/>
        </p:blipFill>
        <p:spPr>
          <a:xfrm>
            <a:off x="221275" y="1470700"/>
            <a:ext cx="4572000" cy="1889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latin typeface="Overpass"/>
                <a:ea typeface="Overpass"/>
                <a:cs typeface="Overpass"/>
                <a:sym typeface="Overpass"/>
              </a:rPr>
              <a:t>Voting in KNN</a:t>
            </a:r>
            <a:endParaRPr sz="3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Example: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K = 5 neighbors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Class labels: A, A, B, A, B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Majority = A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Predicted class = A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latin typeface="Overpass"/>
                <a:ea typeface="Overpass"/>
                <a:cs typeface="Overpass"/>
                <a:sym typeface="Overpass"/>
              </a:rPr>
              <a:t>KNN Algorithm Steps</a:t>
            </a:r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AutoNum type="arabicPeriod"/>
            </a:pPr>
            <a:r>
              <a:rPr lang="en-GB" sz="1600" b="1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Given</a:t>
            </a: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742950" lvl="1" indent="-2730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AutoNum type="alphaLcPeriod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Training Data (X - input variables, y - target), 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742950" lvl="1" indent="-2730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AutoNum type="alphaLcPeriod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Test Data (only X, y - to find)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AutoNum type="arabicPeriod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Choose value of K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AutoNum type="arabicPeriod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Take 1st example of test data x</a:t>
            </a:r>
            <a:r>
              <a:rPr lang="en-GB" sz="1600" baseline="-25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1</a:t>
            </a:r>
            <a:endParaRPr sz="1600" baseline="-250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AutoNum type="arabicPeriod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Calculate distance between test data x</a:t>
            </a:r>
            <a:r>
              <a:rPr lang="en-GB" sz="1600" baseline="-25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1 </a:t>
            </a: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and all training points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AutoNum type="arabicPeriod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Sort distance and select K nearest neighbors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AutoNum type="arabicPeriod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Perform voting (classification) or </a:t>
            </a:r>
            <a:r>
              <a:rPr lang="en-GB" sz="1600" strike="sngStrike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averaging (regression)</a:t>
            </a: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 of K nearest neighbors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AutoNum type="arabicPeriod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Assign final output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AutoNum type="arabicPeriod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Repeat process from step 4 to 7 for all test examples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AutoNum type="arabicPeriod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Find accuracy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7803" y="763700"/>
            <a:ext cx="2418222" cy="1808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latin typeface="Overpass"/>
                <a:ea typeface="Overpass"/>
                <a:cs typeface="Overpass"/>
                <a:sym typeface="Overpass"/>
              </a:rPr>
              <a:t>Other Distance Metrics</a:t>
            </a:r>
            <a:endParaRPr sz="3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Manhattan Distance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Minkowski Distance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Cosine Similarity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Hamming Distance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latin typeface="Overpass"/>
                <a:ea typeface="Overpass"/>
                <a:cs typeface="Overpass"/>
                <a:sym typeface="Overpass"/>
              </a:rPr>
              <a:t>Distance for Categorical Variables</a:t>
            </a:r>
            <a:endParaRPr sz="3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30" name="Google Shape;130;p2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Use Hamming distance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 strike="sngStrike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Encode categories (One-Hot Encoding)</a:t>
            </a:r>
            <a:endParaRPr sz="1600" strike="sngStrike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Similarity = match (0) or mismatch (1)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latin typeface="Overpass"/>
                <a:ea typeface="Overpass"/>
                <a:cs typeface="Overpass"/>
                <a:sym typeface="Overpass"/>
              </a:rPr>
              <a:t>Confusion Matrix</a:t>
            </a:r>
            <a:endParaRPr sz="3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1"/>
          </p:nvPr>
        </p:nvSpPr>
        <p:spPr>
          <a:xfrm>
            <a:off x="4402500" y="2162938"/>
            <a:ext cx="4741500" cy="6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64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Accuracy = (TP + TN) / (TP + TN + FP + FN)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3">
            <a:alphaModFix/>
          </a:blip>
          <a:srcRect l="10686" t="23599" r="14007"/>
          <a:stretch/>
        </p:blipFill>
        <p:spPr>
          <a:xfrm>
            <a:off x="369625" y="1455000"/>
            <a:ext cx="3658099" cy="208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latin typeface="Overpass"/>
                <a:ea typeface="Overpass"/>
                <a:cs typeface="Overpass"/>
                <a:sym typeface="Overpass"/>
              </a:rPr>
              <a:t>Choosing Best K Value</a:t>
            </a:r>
            <a:endParaRPr sz="3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Use loop with cross-validation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Try multiple K values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Select K with highest validation accuracy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Generally use odd values of K to avoid conflict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○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E.g. 3,5,7,9,11 etc.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latin typeface="Overpass"/>
                <a:ea typeface="Overpass"/>
                <a:cs typeface="Overpass"/>
                <a:sym typeface="Overpass"/>
              </a:rPr>
              <a:t>Advantages of KNN</a:t>
            </a:r>
            <a:endParaRPr sz="3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Simple and intuitive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No training phase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Works well with small datasets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latin typeface="Overpass"/>
                <a:ea typeface="Overpass"/>
                <a:cs typeface="Overpass"/>
                <a:sym typeface="Overpass"/>
              </a:rPr>
              <a:t>Disadvantages of KNN</a:t>
            </a:r>
            <a:endParaRPr sz="3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Computationally expensive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Sensitive to noise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Requires feature scaling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latin typeface="Overpass"/>
                <a:ea typeface="Overpass"/>
                <a:cs typeface="Overpass"/>
                <a:sym typeface="Overpass"/>
              </a:rPr>
              <a:t>Applications of KNN</a:t>
            </a:r>
            <a:endParaRPr sz="3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61" name="Google Shape;161;p2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Recommendation systems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Medical diagnosis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Pattern recognition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verpass"/>
              <a:buChar char="●"/>
            </a:pPr>
            <a:r>
              <a:rPr lang="en-GB" sz="16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Credit scoring</a:t>
            </a:r>
            <a:endParaRPr sz="16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Calibri"/>
                <a:ea typeface="Calibri"/>
                <a:cs typeface="Calibri"/>
                <a:sym typeface="Calibri"/>
              </a:rPr>
              <a:t>Naive Bayes Algorithm for Classification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172" name="Google Shape;172;p27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Naïve Bayes is a probabilistic algorithm used for classification tasks, based on Bayes' Theorem and the assumption that features are conditionally independent given the class label.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It is widely used in </a:t>
            </a: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spam filtering, text classification, sentiment analysis, and medical diagnosis</a:t>
            </a: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 due to its simplicity and efficiency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Assumptions</a:t>
            </a:r>
            <a:endParaRPr/>
          </a:p>
        </p:txBody>
      </p:sp>
      <p:sp>
        <p:nvSpPr>
          <p:cNvPr id="178" name="Google Shape;178;p2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Conditional Independence of Features</a:t>
            </a:r>
            <a:endParaRPr sz="1400"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Equal Importance of Features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Presence of All Classes in Training Data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Categorical (frequency-based probability) or Normally Distributed (continuous data) Features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Bayes’ Theorem</a:t>
            </a:r>
            <a:endParaRPr/>
          </a:p>
        </p:txBody>
      </p:sp>
      <p:sp>
        <p:nvSpPr>
          <p:cNvPr id="184" name="Google Shape;184;p29"/>
          <p:cNvSpPr txBox="1">
            <a:spLocks noGrp="1"/>
          </p:cNvSpPr>
          <p:nvPr>
            <p:ph type="body" idx="1"/>
          </p:nvPr>
        </p:nvSpPr>
        <p:spPr>
          <a:xfrm>
            <a:off x="3788875" y="2078875"/>
            <a:ext cx="4877700" cy="27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where,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P(y∣X) = Probability of class y given the feature set X (</a:t>
            </a: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Posterior Probability</a:t>
            </a: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P(X∣y) = Probability of feature set X given class y (</a:t>
            </a: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Likelihood</a:t>
            </a: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P(y) = Prior probability of class y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P(X) = Probability of feature set X (</a:t>
            </a: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Evidence</a:t>
            </a: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185" name="Google Shape;1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325" y="2081213"/>
            <a:ext cx="2781300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 txBox="1"/>
          <p:nvPr/>
        </p:nvSpPr>
        <p:spPr>
          <a:xfrm>
            <a:off x="337625" y="3482850"/>
            <a:ext cx="3000000" cy="12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Overpass"/>
                <a:ea typeface="Overpass"/>
                <a:cs typeface="Overpass"/>
                <a:sym typeface="Overpass"/>
              </a:rPr>
              <a:t>Aim</a:t>
            </a:r>
            <a:r>
              <a:rPr lang="en-GB">
                <a:latin typeface="Overpass"/>
                <a:ea typeface="Overpass"/>
                <a:cs typeface="Overpass"/>
                <a:sym typeface="Overpass"/>
              </a:rPr>
              <a:t>:</a:t>
            </a:r>
            <a:endParaRPr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Overpass"/>
                <a:ea typeface="Overpass"/>
                <a:cs typeface="Overpass"/>
                <a:sym typeface="Overpass"/>
              </a:rPr>
              <a:t>For classification, the goal is to determine the class y that maximizes P(y∣X)</a:t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" name="Google Shape;191;p30"/>
          <p:cNvGraphicFramePr/>
          <p:nvPr/>
        </p:nvGraphicFramePr>
        <p:xfrm>
          <a:off x="1005125" y="1489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{036A2558-8B2F-41B4-BA36-D2474350B953}</a:tableStyleId>
              </a:tblPr>
              <a:tblGrid>
                <a:gridCol w="139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id</a:t>
                      </a:r>
                      <a:endParaRPr sz="1200"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Age (Years)</a:t>
                      </a:r>
                      <a:endParaRPr sz="1200"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Income (K$)</a:t>
                      </a:r>
                      <a:endParaRPr sz="1200"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Gender</a:t>
                      </a:r>
                      <a:endParaRPr sz="1200"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Purchase (Y/N)</a:t>
                      </a:r>
                      <a:endParaRPr sz="1200"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25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50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Male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Yes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45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80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Female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No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35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60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Male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Yes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50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90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Female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No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23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40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Female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Yes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40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70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Male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No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Assumption of Feature Independence</a:t>
            </a:r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Naïve Bayes assumes that each feature in X is </a:t>
            </a:r>
            <a:r>
              <a:rPr lang="en-GB" sz="12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independent</a:t>
            </a:r>
            <a:r>
              <a:rPr lang="en-GB" sz="12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 given the class label y, so the likelihood can be rewritten as:</a:t>
            </a:r>
            <a:endParaRPr sz="12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P(A / B)  = P(A) * P(B), A &amp; B are independent</a:t>
            </a:r>
            <a:endParaRPr sz="12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198" name="Google Shape;19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4925" y="3024850"/>
            <a:ext cx="3810000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Compute Prior Probabilities</a:t>
            </a:r>
            <a:endParaRPr/>
          </a:p>
        </p:txBody>
      </p:sp>
      <p:sp>
        <p:nvSpPr>
          <p:cNvPr id="204" name="Google Shape;204;p32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2413200" cy="49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latin typeface="Overpass"/>
                <a:ea typeface="Overpass"/>
                <a:cs typeface="Overpass"/>
                <a:sym typeface="Overpass"/>
              </a:rPr>
              <a:t>For each class y</a:t>
            </a:r>
            <a:r>
              <a:rPr lang="en-GB" baseline="-25000">
                <a:latin typeface="Overpass"/>
                <a:ea typeface="Overpass"/>
                <a:cs typeface="Overpass"/>
                <a:sym typeface="Overpass"/>
              </a:rPr>
              <a:t>i</a:t>
            </a:r>
            <a:r>
              <a:rPr lang="en-GB">
                <a:latin typeface="Overpass"/>
                <a:ea typeface="Overpass"/>
                <a:cs typeface="Overpass"/>
                <a:sym typeface="Overpass"/>
              </a:rPr>
              <a:t>, calculate:</a:t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205" name="Google Shape;20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00" y="2791475"/>
            <a:ext cx="38671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2"/>
          <p:cNvSpPr txBox="1">
            <a:spLocks noGrp="1"/>
          </p:cNvSpPr>
          <p:nvPr>
            <p:ph type="body" idx="1"/>
          </p:nvPr>
        </p:nvSpPr>
        <p:spPr>
          <a:xfrm>
            <a:off x="4390300" y="1853850"/>
            <a:ext cx="4668000" cy="30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verpass"/>
                <a:ea typeface="Overpass"/>
                <a:cs typeface="Overpass"/>
                <a:sym typeface="Overpass"/>
              </a:rPr>
              <a:t>Example</a:t>
            </a:r>
            <a:endParaRPr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Overpass"/>
                <a:ea typeface="Overpass"/>
                <a:cs typeface="Overpass"/>
                <a:sym typeface="Overpass"/>
              </a:rPr>
              <a:t>P(Yes) = Count of Yes / total samples = 3 / 6 = 0.5</a:t>
            </a:r>
            <a:endParaRPr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Overpass"/>
                <a:ea typeface="Overpass"/>
                <a:cs typeface="Overpass"/>
                <a:sym typeface="Overpass"/>
              </a:rPr>
              <a:t>P(No) = Count of No / total samples = 3 / 6 = 0.5</a:t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Compute Likelihood P(X∣y)</a:t>
            </a:r>
            <a:endParaRPr/>
          </a:p>
        </p:txBody>
      </p:sp>
      <p:sp>
        <p:nvSpPr>
          <p:cNvPr id="212" name="Google Shape;212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Overpass"/>
                <a:ea typeface="Overpass"/>
                <a:cs typeface="Overpass"/>
                <a:sym typeface="Overpass"/>
              </a:rPr>
              <a:t>For categorical : </a:t>
            </a:r>
            <a:r>
              <a:rPr lang="en-GB">
                <a:latin typeface="Overpass"/>
                <a:ea typeface="Overpass"/>
                <a:cs typeface="Overpass"/>
                <a:sym typeface="Overpass"/>
              </a:rPr>
              <a:t>Using frequency count:</a:t>
            </a:r>
            <a:endParaRPr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Overpass"/>
                <a:ea typeface="Overpass"/>
                <a:cs typeface="Overpass"/>
                <a:sym typeface="Overpass"/>
              </a:rPr>
              <a:t>P(Male/Yes) = Count of Males in Yes / Total Count of Yes = 2 / 3 = 0.67</a:t>
            </a:r>
            <a:endParaRPr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Overpass"/>
                <a:ea typeface="Overpass"/>
                <a:cs typeface="Overpass"/>
                <a:sym typeface="Overpass"/>
              </a:rPr>
              <a:t>P(Male/No) = Count of Males in No / Total Count of No = 1 / 3 = 0.33</a:t>
            </a:r>
            <a:endParaRPr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Overpass"/>
                <a:ea typeface="Overpass"/>
                <a:cs typeface="Overpass"/>
                <a:sym typeface="Overpass"/>
              </a:rPr>
              <a:t>P(Female/Yes) = Count of Females in Yes / Total Count of Yes = 1 / 3 = 0.33</a:t>
            </a:r>
            <a:endParaRPr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Overpass"/>
                <a:ea typeface="Overpass"/>
                <a:cs typeface="Overpass"/>
                <a:sym typeface="Overpass"/>
              </a:rPr>
              <a:t>P(Female/No) = Count of Females in No / Total Count of No = 2 / 3 = 0.67</a:t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Compute Likelihood P(X∣y)</a:t>
            </a:r>
            <a:endParaRPr/>
          </a:p>
        </p:txBody>
      </p:sp>
      <p:sp>
        <p:nvSpPr>
          <p:cNvPr id="218" name="Google Shape;218;p3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3714900" cy="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latin typeface="Overpass"/>
                <a:ea typeface="Overpass"/>
                <a:cs typeface="Overpass"/>
                <a:sym typeface="Overpass"/>
              </a:rPr>
              <a:t>For Continuous Variables (Gaussian Distribution)</a:t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219" name="Google Shape;21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000" y="2782500"/>
            <a:ext cx="3762375" cy="76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0" name="Google Shape;220;p34"/>
          <p:cNvGraphicFramePr/>
          <p:nvPr/>
        </p:nvGraphicFramePr>
        <p:xfrm>
          <a:off x="5565175" y="141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{036A2558-8B2F-41B4-BA36-D2474350B953}</a:tableStyleId>
              </a:tblPr>
              <a:tblGrid>
                <a:gridCol w="97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Class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Mean (μ\mu)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Std Dev (σ\sigma)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Yes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27.67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6.036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No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45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1" name="Google Shape;221;p34"/>
          <p:cNvGraphicFramePr/>
          <p:nvPr/>
        </p:nvGraphicFramePr>
        <p:xfrm>
          <a:off x="5565175" y="344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{036A2558-8B2F-41B4-BA36-D2474350B953}</a:tableStyleId>
              </a:tblPr>
              <a:tblGrid>
                <a:gridCol w="99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Class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Mean (μ\mu)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Std Dev (σ\sigma)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Yes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50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8.16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No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80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8.16</a:t>
                      </a:r>
                      <a:endParaRPr sz="12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2" name="Google Shape;222;p34"/>
          <p:cNvSpPr txBox="1">
            <a:spLocks noGrp="1"/>
          </p:cNvSpPr>
          <p:nvPr>
            <p:ph type="body" idx="1"/>
          </p:nvPr>
        </p:nvSpPr>
        <p:spPr>
          <a:xfrm>
            <a:off x="5565175" y="940925"/>
            <a:ext cx="10302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latin typeface="Overpass"/>
                <a:ea typeface="Overpass"/>
                <a:cs typeface="Overpass"/>
                <a:sym typeface="Overpass"/>
              </a:rPr>
              <a:t>Age</a:t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23" name="Google Shape;223;p34"/>
          <p:cNvSpPr txBox="1">
            <a:spLocks noGrp="1"/>
          </p:cNvSpPr>
          <p:nvPr>
            <p:ph type="body" idx="1"/>
          </p:nvPr>
        </p:nvSpPr>
        <p:spPr>
          <a:xfrm>
            <a:off x="5565175" y="2966663"/>
            <a:ext cx="10302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latin typeface="Overpass"/>
                <a:ea typeface="Overpass"/>
                <a:cs typeface="Overpass"/>
                <a:sym typeface="Overpass"/>
              </a:rPr>
              <a:t>Income</a:t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Compute Posterior </a:t>
            </a:r>
            <a:endParaRPr/>
          </a:p>
        </p:txBody>
      </p:sp>
      <p:sp>
        <p:nvSpPr>
          <p:cNvPr id="229" name="Google Shape;229;p3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For Continuous data</a:t>
            </a: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: Gaussian Distribution</a:t>
            </a: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Age: </a:t>
            </a: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P(25/Yes) = 1 / (√ 2 * 𝛑 * 6.03</a:t>
            </a:r>
            <a:r>
              <a:rPr lang="en-GB" baseline="30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2</a:t>
            </a: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) * exp( - (25-27.67)</a:t>
            </a:r>
            <a:r>
              <a:rPr lang="en-GB" baseline="30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2  </a:t>
            </a: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/ (2*6.03</a:t>
            </a:r>
            <a:r>
              <a:rPr lang="en-GB" baseline="30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2</a:t>
            </a: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) ) = 0.060</a:t>
            </a: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P(25/No) = 1 / (√ 2 * 𝛑 * 5</a:t>
            </a:r>
            <a:r>
              <a:rPr lang="en-GB" baseline="30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2</a:t>
            </a: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) * exp( - (25-45)</a:t>
            </a:r>
            <a:r>
              <a:rPr lang="en-GB" baseline="30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2  </a:t>
            </a: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/ (2*5</a:t>
            </a:r>
            <a:r>
              <a:rPr lang="en-GB" baseline="30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2</a:t>
            </a: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) ) = 0.0000268</a:t>
            </a: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Compute Posterior for New Data</a:t>
            </a:r>
            <a:endParaRPr/>
          </a:p>
        </p:txBody>
      </p:sp>
      <p:sp>
        <p:nvSpPr>
          <p:cNvPr id="235" name="Google Shape;235;p36"/>
          <p:cNvSpPr txBox="1">
            <a:spLocks noGrp="1"/>
          </p:cNvSpPr>
          <p:nvPr>
            <p:ph type="body" idx="1"/>
          </p:nvPr>
        </p:nvSpPr>
        <p:spPr>
          <a:xfrm>
            <a:off x="98875" y="2024825"/>
            <a:ext cx="4415100" cy="29766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Yes</a:t>
            </a:r>
            <a:endParaRPr sz="1100" b="1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Age </a:t>
            </a:r>
            <a:r>
              <a:rPr lang="en-GB" sz="11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sz="11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P(30/Yes) = 1 /(√ 2 * 𝛑 * 6.03</a:t>
            </a:r>
            <a:r>
              <a:rPr lang="en-GB" sz="1100" baseline="30000">
                <a:latin typeface="Overpass"/>
                <a:ea typeface="Overpass"/>
                <a:cs typeface="Overpass"/>
                <a:sym typeface="Overpass"/>
              </a:rPr>
              <a:t>2</a:t>
            </a:r>
            <a:r>
              <a:rPr lang="en-GB" sz="11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)* exp(-(30-27.67)</a:t>
            </a:r>
            <a:r>
              <a:rPr lang="en-GB" sz="1100" baseline="300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2  </a:t>
            </a:r>
            <a:r>
              <a:rPr lang="en-GB" sz="11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/(2*6.03</a:t>
            </a:r>
            <a:r>
              <a:rPr lang="en-GB" sz="1100" baseline="300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2</a:t>
            </a:r>
            <a:r>
              <a:rPr lang="en-GB" sz="11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))= 0.06</a:t>
            </a:r>
            <a:endParaRPr sz="11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Income</a:t>
            </a:r>
            <a:r>
              <a:rPr lang="en-GB" sz="11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11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P(55/Yes) = 1 / (√ 2 * 𝛑 * 8.16</a:t>
            </a:r>
            <a:r>
              <a:rPr lang="en-GB" sz="1100" baseline="30000">
                <a:latin typeface="Overpass"/>
                <a:ea typeface="Overpass"/>
                <a:cs typeface="Overpass"/>
                <a:sym typeface="Overpass"/>
              </a:rPr>
              <a:t>2</a:t>
            </a:r>
            <a:r>
              <a:rPr lang="en-GB" sz="11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) * exp( - (55-50)</a:t>
            </a:r>
            <a:r>
              <a:rPr lang="en-GB" sz="1100" baseline="300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2 </a:t>
            </a:r>
            <a:r>
              <a:rPr lang="en-GB" sz="11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/(2*8.16</a:t>
            </a:r>
            <a:r>
              <a:rPr lang="en-GB" sz="1100" baseline="300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2</a:t>
            </a:r>
            <a:r>
              <a:rPr lang="en-GB" sz="11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)) = 0.045</a:t>
            </a:r>
            <a:endParaRPr sz="11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Gender</a:t>
            </a:r>
            <a:r>
              <a:rPr lang="en-GB" sz="11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11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P(Male/Yes)=0.67</a:t>
            </a:r>
            <a:endParaRPr sz="11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graphicFrame>
        <p:nvGraphicFramePr>
          <p:cNvPr id="236" name="Google Shape;236;p36"/>
          <p:cNvGraphicFramePr/>
          <p:nvPr/>
        </p:nvGraphicFramePr>
        <p:xfrm>
          <a:off x="5557125" y="88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{036A2558-8B2F-41B4-BA36-D2474350B953}</a:tableStyleId>
              </a:tblPr>
              <a:tblGrid>
                <a:gridCol w="116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Age</a:t>
                      </a:r>
                      <a:endParaRPr sz="1100"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Income</a:t>
                      </a:r>
                      <a:endParaRPr sz="1100"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Gender</a:t>
                      </a:r>
                      <a:endParaRPr sz="1100"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55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Male</a:t>
                      </a:r>
                      <a:endParaRPr sz="11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7" name="Google Shape;237;p36"/>
          <p:cNvSpPr txBox="1">
            <a:spLocks noGrp="1"/>
          </p:cNvSpPr>
          <p:nvPr>
            <p:ph type="body" idx="1"/>
          </p:nvPr>
        </p:nvSpPr>
        <p:spPr>
          <a:xfrm>
            <a:off x="4607700" y="2024825"/>
            <a:ext cx="4415100" cy="29766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No</a:t>
            </a:r>
            <a:endParaRPr sz="1100" b="1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Age</a:t>
            </a:r>
            <a:r>
              <a:rPr lang="en-GB" sz="11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11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P(30/No) = 1 / (√ 2 * 𝛑 * 5</a:t>
            </a:r>
            <a:r>
              <a:rPr lang="en-GB" sz="1100" baseline="30000">
                <a:latin typeface="Overpass"/>
                <a:ea typeface="Overpass"/>
                <a:cs typeface="Overpass"/>
                <a:sym typeface="Overpass"/>
              </a:rPr>
              <a:t>2</a:t>
            </a:r>
            <a:r>
              <a:rPr lang="en-GB" sz="11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) * exp( - (30-45)</a:t>
            </a:r>
            <a:r>
              <a:rPr lang="en-GB" sz="1100" baseline="30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2  </a:t>
            </a:r>
            <a:r>
              <a:rPr lang="en-GB" sz="11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/ (2*5</a:t>
            </a:r>
            <a:r>
              <a:rPr lang="en-GB" sz="1100" baseline="30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2</a:t>
            </a:r>
            <a:r>
              <a:rPr lang="en-GB" sz="11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) ) = 0.003</a:t>
            </a:r>
            <a:endParaRPr sz="11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Income</a:t>
            </a:r>
            <a:r>
              <a:rPr lang="en-GB" sz="11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11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P(55/No) = 1 / (√ 2 * 𝛑 * 8.16</a:t>
            </a:r>
            <a:r>
              <a:rPr lang="en-GB" sz="1100" baseline="30000">
                <a:latin typeface="Overpass"/>
                <a:ea typeface="Overpass"/>
                <a:cs typeface="Overpass"/>
                <a:sym typeface="Overpass"/>
              </a:rPr>
              <a:t>2</a:t>
            </a:r>
            <a:r>
              <a:rPr lang="en-GB" sz="11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) * exp( - (55-80)</a:t>
            </a:r>
            <a:r>
              <a:rPr lang="en-GB" sz="1100" baseline="30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2  </a:t>
            </a:r>
            <a:r>
              <a:rPr lang="en-GB" sz="11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/ (2*8.16</a:t>
            </a:r>
            <a:r>
              <a:rPr lang="en-GB" sz="1100" baseline="30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2</a:t>
            </a:r>
            <a:r>
              <a:rPr lang="en-GB" sz="11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)) = 0.002</a:t>
            </a:r>
            <a:endParaRPr sz="11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Gender</a:t>
            </a:r>
            <a:r>
              <a:rPr lang="en-GB" sz="11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11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P(Male/No)=0.33</a:t>
            </a:r>
            <a:endParaRPr sz="11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Compute Posterior Probabilities</a:t>
            </a:r>
            <a:endParaRPr/>
          </a:p>
        </p:txBody>
      </p:sp>
      <p:sp>
        <p:nvSpPr>
          <p:cNvPr id="243" name="Google Shape;243;p37"/>
          <p:cNvSpPr txBox="1">
            <a:spLocks noGrp="1"/>
          </p:cNvSpPr>
          <p:nvPr>
            <p:ph type="body" idx="1"/>
          </p:nvPr>
        </p:nvSpPr>
        <p:spPr>
          <a:xfrm>
            <a:off x="348450" y="2078875"/>
            <a:ext cx="4072800" cy="23820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P(Yes∣X)</a:t>
            </a: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 ∝ P(Yes) * P(30∣Yes) * P(55∣Yes) * P(Male∣Yes) </a:t>
            </a: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                    ∝ 0.5 * 0.06 * 0.045 * 0.67</a:t>
            </a: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                    ∝ 0.009</a:t>
            </a: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P(No∣X)</a:t>
            </a: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 ∝ P(No) * P(30∣No) * P(55∣No) * P(Male∣No) </a:t>
            </a: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                    ∝ 0.5 * 0.003 * 0.002 * 0.33</a:t>
            </a: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                    ∝ 0.000001</a:t>
            </a: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44" name="Google Shape;244;p37"/>
          <p:cNvSpPr txBox="1">
            <a:spLocks noGrp="1"/>
          </p:cNvSpPr>
          <p:nvPr>
            <p:ph type="body" idx="1"/>
          </p:nvPr>
        </p:nvSpPr>
        <p:spPr>
          <a:xfrm>
            <a:off x="4680500" y="2078875"/>
            <a:ext cx="4072800" cy="23820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Normalize Probabilities</a:t>
            </a:r>
            <a:endParaRPr b="1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P(Yes∣X) </a:t>
            </a: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= 0.009 / (0.009 + 0.000001) = 0.999</a:t>
            </a: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P(No∣X) </a:t>
            </a: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= 0.000001 / (0.009 + 0.000001) = 0.001</a:t>
            </a: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Since P(Yes∣X) is much higher, the final prediction would be </a:t>
            </a:r>
            <a:r>
              <a:rPr lang="en-GB" b="1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"Yes" (Purchase)</a:t>
            </a: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. ​​</a:t>
            </a: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Performance Measure</a:t>
            </a:r>
            <a:endParaRPr/>
          </a:p>
        </p:txBody>
      </p:sp>
      <p:sp>
        <p:nvSpPr>
          <p:cNvPr id="250" name="Google Shape;250;p38"/>
          <p:cNvSpPr txBox="1">
            <a:spLocks noGrp="1"/>
          </p:cNvSpPr>
          <p:nvPr>
            <p:ph type="body" idx="1"/>
          </p:nvPr>
        </p:nvSpPr>
        <p:spPr>
          <a:xfrm>
            <a:off x="4079550" y="2078875"/>
            <a:ext cx="4338600" cy="22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000000"/>
                </a:solidFill>
              </a:rPr>
              <a:t>Precision</a:t>
            </a:r>
            <a:r>
              <a:rPr lang="en-GB" sz="1100">
                <a:solidFill>
                  <a:srgbClr val="000000"/>
                </a:solidFill>
              </a:rPr>
              <a:t> : </a:t>
            </a:r>
            <a:r>
              <a:rPr lang="en-GB" sz="11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all the items the model predicted as positive, how many were actually positive?</a:t>
            </a:r>
            <a:endParaRPr sz="1100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 b="1">
                <a:solidFill>
                  <a:srgbClr val="000000"/>
                </a:solidFill>
              </a:rPr>
              <a:t>Recall</a:t>
            </a:r>
            <a:r>
              <a:rPr lang="en-GB" sz="1100">
                <a:solidFill>
                  <a:srgbClr val="000000"/>
                </a:solidFill>
              </a:rPr>
              <a:t> : </a:t>
            </a:r>
            <a:r>
              <a:rPr lang="en-GB" sz="11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all the actual positive items, how many did the model correctly identify?</a:t>
            </a:r>
            <a:r>
              <a:rPr lang="en-GB" sz="1100">
                <a:solidFill>
                  <a:srgbClr val="000000"/>
                </a:solidFill>
              </a:rPr>
              <a:t> </a:t>
            </a:r>
            <a:endParaRPr sz="1100">
              <a:solidFill>
                <a:srgbClr val="000000"/>
              </a:solidFill>
            </a:endParaRPr>
          </a:p>
        </p:txBody>
      </p:sp>
      <p:pic>
        <p:nvPicPr>
          <p:cNvPr id="251" name="Google Shape;251;p38"/>
          <p:cNvPicPr preferRelativeResize="0"/>
          <p:nvPr/>
        </p:nvPicPr>
        <p:blipFill rotWithShape="1">
          <a:blip r:embed="rId3">
            <a:alphaModFix/>
          </a:blip>
          <a:srcRect l="10686" t="23599" r="14007"/>
          <a:stretch/>
        </p:blipFill>
        <p:spPr>
          <a:xfrm>
            <a:off x="101991" y="2175825"/>
            <a:ext cx="3658099" cy="20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8"/>
          <p:cNvPicPr preferRelativeResize="0"/>
          <p:nvPr/>
        </p:nvPicPr>
        <p:blipFill rotWithShape="1">
          <a:blip r:embed="rId4">
            <a:alphaModFix/>
          </a:blip>
          <a:srcRect b="64656"/>
          <a:stretch/>
        </p:blipFill>
        <p:spPr>
          <a:xfrm>
            <a:off x="5243975" y="2674717"/>
            <a:ext cx="2781300" cy="5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8"/>
          <p:cNvPicPr preferRelativeResize="0"/>
          <p:nvPr/>
        </p:nvPicPr>
        <p:blipFill rotWithShape="1">
          <a:blip r:embed="rId4">
            <a:alphaModFix/>
          </a:blip>
          <a:srcRect l="1234" t="31780" b="32876"/>
          <a:stretch/>
        </p:blipFill>
        <p:spPr>
          <a:xfrm>
            <a:off x="5261125" y="3942475"/>
            <a:ext cx="2747000" cy="58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</a:t>
            </a:r>
            <a:endParaRPr/>
          </a:p>
        </p:txBody>
      </p:sp>
      <p:sp>
        <p:nvSpPr>
          <p:cNvPr id="259" name="Google Shape;259;p3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Simple and fast.</a:t>
            </a: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Works well with text data (spam filtering, sentiment analysis).</a:t>
            </a: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Handles missing values using smoothing.</a:t>
            </a: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Disadvantages</a:t>
            </a:r>
            <a:endParaRPr/>
          </a:p>
        </p:txBody>
      </p:sp>
      <p:sp>
        <p:nvSpPr>
          <p:cNvPr id="265" name="Google Shape;265;p40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Assumes </a:t>
            </a:r>
            <a:r>
              <a:rPr lang="en-GB" sz="12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independence</a:t>
            </a:r>
            <a:r>
              <a:rPr lang="en-GB" sz="12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 between features (not always true).</a:t>
            </a:r>
            <a:endParaRPr sz="12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If feature probabilities are zero, it can cause issues (solved by Laplace smoothing).</a:t>
            </a:r>
            <a:endParaRPr sz="12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Applications:</a:t>
            </a:r>
            <a:endParaRPr/>
          </a:p>
        </p:txBody>
      </p:sp>
      <p:sp>
        <p:nvSpPr>
          <p:cNvPr id="271" name="Google Shape;271;p41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Overpass"/>
              <a:buChar char="●"/>
            </a:pPr>
            <a:r>
              <a:rPr lang="en-GB" sz="1200">
                <a:latin typeface="Overpass"/>
                <a:ea typeface="Overpass"/>
                <a:cs typeface="Overpass"/>
                <a:sym typeface="Overpass"/>
              </a:rPr>
              <a:t>Email spam detection</a:t>
            </a:r>
            <a:endParaRPr sz="1200"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Overpass"/>
              <a:buChar char="●"/>
            </a:pPr>
            <a:r>
              <a:rPr lang="en-GB" sz="1200">
                <a:latin typeface="Overpass"/>
                <a:ea typeface="Overpass"/>
                <a:cs typeface="Overpass"/>
                <a:sym typeface="Overpass"/>
              </a:rPr>
              <a:t>Sentiment analysis</a:t>
            </a:r>
            <a:endParaRPr sz="1200"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Overpass"/>
              <a:buChar char="●"/>
            </a:pPr>
            <a:r>
              <a:rPr lang="en-GB" sz="1200">
                <a:latin typeface="Overpass"/>
                <a:ea typeface="Overpass"/>
                <a:cs typeface="Overpass"/>
                <a:sym typeface="Overpass"/>
              </a:rPr>
              <a:t>Medical diagnosis</a:t>
            </a:r>
            <a:endParaRPr sz="12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Calibri"/>
                <a:ea typeface="Calibri"/>
                <a:cs typeface="Calibri"/>
                <a:sym typeface="Calibri"/>
              </a:rPr>
              <a:t>Cross Validation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Cross Validation &amp; Why it is needed</a:t>
            </a:r>
            <a:endParaRPr/>
          </a:p>
        </p:txBody>
      </p:sp>
      <p:sp>
        <p:nvSpPr>
          <p:cNvPr id="282" name="Google Shape;282;p4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Cross-validation is used in Machine Learning to check how well a model will work on new, unseen data, not just on the data it was trained on.</a:t>
            </a: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Why it is needed If a model is tested only on training data:</a:t>
            </a: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It may memorize the data (overfitting)</a:t>
            </a: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It may look accurate but fail on real-world data</a:t>
            </a: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Cross-validation helps avoid this.</a:t>
            </a: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verpass"/>
                <a:ea typeface="Overpass"/>
                <a:cs typeface="Overpass"/>
                <a:sym typeface="Overpass"/>
              </a:rPr>
              <a:t>Types of Cross Validation (CV)</a:t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88" name="Google Shape;288;p4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verpass"/>
              <a:buAutoNum type="arabicPeriod"/>
            </a:pP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Hold-Out Validation (Train–Test Split)</a:t>
            </a: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verpass"/>
              <a:buAutoNum type="arabicPeriod"/>
            </a:pP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K-Fold CV</a:t>
            </a: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verpass"/>
              <a:buAutoNum type="arabicPeriod"/>
            </a:pP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Stratified K-Fold CV</a:t>
            </a: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verpass"/>
              <a:buAutoNum type="arabicPeriod"/>
            </a:pP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Leave-One-Out CV(LOOCV)</a:t>
            </a: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verpass"/>
              <a:buAutoNum type="arabicPeriod"/>
            </a:pPr>
            <a:r>
              <a:rPr lang="en-GB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Time Series CV</a:t>
            </a:r>
            <a:endParaRPr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verpass"/>
                <a:ea typeface="Overpass"/>
                <a:cs typeface="Overpass"/>
                <a:sym typeface="Overpass"/>
              </a:rPr>
              <a:t>Hold-Out Validation (Train–Test Split)</a:t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94" name="Google Shape;294;p4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50592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What it is: </a:t>
            </a:r>
            <a:b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</a:b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Data is split </a:t>
            </a: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once</a:t>
            </a: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 into training and testing sets (e.g., 80%–20%).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Best for: </a:t>
            </a:r>
            <a:endParaRPr sz="1400" b="1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Large datasets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Quick baseline checks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Limitation:</a:t>
            </a:r>
            <a:endParaRPr sz="1400" b="1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Result depends heavily on </a:t>
            </a: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one random split</a:t>
            </a:r>
            <a:endParaRPr sz="1400"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295" name="Google Shape;29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4713" y="2354850"/>
            <a:ext cx="3419475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verpass"/>
                <a:ea typeface="Overpass"/>
                <a:cs typeface="Overpass"/>
                <a:sym typeface="Overpass"/>
              </a:rPr>
              <a:t>K-Fold CV</a:t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01" name="Google Shape;301;p4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4278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What it is:</a:t>
            </a:r>
            <a:endParaRPr sz="1400" b="1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Data is divided into </a:t>
            </a: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K equal parts (folds)</a:t>
            </a:r>
            <a:endParaRPr sz="1400" b="1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Train on </a:t>
            </a: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K-1 folds</a:t>
            </a: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, test on </a:t>
            </a: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1 fold</a:t>
            </a:r>
            <a:endParaRPr sz="1400" b="1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Repeat </a:t>
            </a: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K times</a:t>
            </a: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, average the result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Best for:</a:t>
            </a:r>
            <a:endParaRPr sz="1400" b="1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Small to medium datasets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General-purpose model evaluation</a:t>
            </a:r>
            <a:endParaRPr sz="1400"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302" name="Google Shape;30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0000" y="1655100"/>
            <a:ext cx="4093999" cy="246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Stratified K-Fold CV</a:t>
            </a:r>
            <a:endParaRPr/>
          </a:p>
        </p:txBody>
      </p:sp>
      <p:sp>
        <p:nvSpPr>
          <p:cNvPr id="308" name="Google Shape;308;p47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4116900" cy="28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What it is:</a:t>
            </a:r>
            <a:b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</a:b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 Same as K-Fold, but </a:t>
            </a: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class proportions are preserved</a:t>
            </a: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 in each fold.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Best for:</a:t>
            </a:r>
            <a:endParaRPr sz="1400" b="1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Imbalanced classification</a:t>
            </a: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 problems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Binary or multi-class classification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Example:</a:t>
            </a:r>
            <a:b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</a:b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 If 90% data is class A, each fold keeps ~90% A.</a:t>
            </a:r>
            <a:endParaRPr sz="1400"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309" name="Google Shape;30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4600" y="1318650"/>
            <a:ext cx="4209400" cy="312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Leave-One-Out CV(LOOCV)</a:t>
            </a:r>
            <a:endParaRPr/>
          </a:p>
        </p:txBody>
      </p:sp>
      <p:sp>
        <p:nvSpPr>
          <p:cNvPr id="315" name="Google Shape;315;p4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35484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What it is:</a:t>
            </a:r>
            <a:endParaRPr sz="1400" b="1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Train on </a:t>
            </a: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N-1 samples</a:t>
            </a:r>
            <a:endParaRPr sz="1400" b="1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Test on </a:t>
            </a: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1 sample</a:t>
            </a:r>
            <a:endParaRPr sz="1400" b="1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Repeat for </a:t>
            </a: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every data point</a:t>
            </a:r>
            <a:endParaRPr sz="1400" b="1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Best for:</a:t>
            </a:r>
            <a:endParaRPr sz="1400" b="1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Very </a:t>
            </a: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small datasets</a:t>
            </a:r>
            <a:endParaRPr sz="1400" b="1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Limitation:</a:t>
            </a:r>
            <a:endParaRPr sz="1400" b="1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Computationally expensive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High variance</a:t>
            </a:r>
            <a:b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</a:br>
            <a:endParaRPr sz="1400"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316" name="Google Shape;31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7500" y="1753520"/>
            <a:ext cx="4655926" cy="310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Series CV</a:t>
            </a:r>
            <a:endParaRPr/>
          </a:p>
        </p:txBody>
      </p:sp>
      <p:sp>
        <p:nvSpPr>
          <p:cNvPr id="322" name="Google Shape;322;p4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40491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What it is:</a:t>
            </a:r>
            <a:b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</a:b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 Respects </a:t>
            </a: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time order</a:t>
            </a: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Train on past data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Test on future data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Best for:</a:t>
            </a:r>
            <a:endParaRPr sz="1400" b="1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Forecasting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Any </a:t>
            </a: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time-dependent data</a:t>
            </a:r>
            <a:endParaRPr sz="1400" b="1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Important rule:</a:t>
            </a:r>
            <a:endParaRPr sz="1400" b="1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○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Never shuffle time series data</a:t>
            </a:r>
            <a:endParaRPr sz="1400"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323" name="Google Shape;32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2354" y="2078879"/>
            <a:ext cx="3958275" cy="19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0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Overpass"/>
                <a:ea typeface="Overpass"/>
                <a:cs typeface="Overpass"/>
                <a:sym typeface="Overpass"/>
              </a:rPr>
              <a:t>Decision Tree</a:t>
            </a:r>
            <a:endParaRPr sz="44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Assumptions</a:t>
            </a:r>
            <a:endParaRPr/>
          </a:p>
        </p:txBody>
      </p:sp>
      <p:sp>
        <p:nvSpPr>
          <p:cNvPr id="334" name="Google Shape;334;p51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Samples Are Independent and Identically Distributed (i.i.d.)</a:t>
            </a:r>
            <a:endParaRPr sz="1400"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verpass"/>
              <a:buChar char="●"/>
            </a:pPr>
            <a:r>
              <a:rPr lang="en-GB" sz="1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Feature Scale Does Not Matter</a:t>
            </a:r>
            <a:endParaRPr sz="14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2"/>
          <p:cNvSpPr txBox="1">
            <a:spLocks noGrp="1"/>
          </p:cNvSpPr>
          <p:nvPr>
            <p:ph type="title"/>
          </p:nvPr>
        </p:nvSpPr>
        <p:spPr>
          <a:xfrm>
            <a:off x="729450" y="7293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Decision Tree</a:t>
            </a:r>
            <a:endParaRPr/>
          </a:p>
        </p:txBody>
      </p:sp>
      <p:pic>
        <p:nvPicPr>
          <p:cNvPr id="340" name="Google Shape;34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1264573"/>
            <a:ext cx="4328125" cy="3240077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52"/>
          <p:cNvSpPr txBox="1">
            <a:spLocks noGrp="1"/>
          </p:cNvSpPr>
          <p:nvPr>
            <p:ph type="body" idx="1"/>
          </p:nvPr>
        </p:nvSpPr>
        <p:spPr>
          <a:xfrm>
            <a:off x="729450" y="1979963"/>
            <a:ext cx="4515000" cy="180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Rule based algorithm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Iteratively find split points for decisions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Each node has two children and one parent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Intuitive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-GB" sz="1400"/>
              <a:t>Simple to implement</a:t>
            </a:r>
            <a:endParaRPr sz="1400"/>
          </a:p>
        </p:txBody>
      </p:sp>
      <p:sp>
        <p:nvSpPr>
          <p:cNvPr id="342" name="Google Shape;342;p52"/>
          <p:cNvSpPr txBox="1"/>
          <p:nvPr/>
        </p:nvSpPr>
        <p:spPr>
          <a:xfrm>
            <a:off x="4304575" y="4866225"/>
            <a:ext cx="482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Image source: </a:t>
            </a:r>
            <a:r>
              <a:rPr lang="en-GB" sz="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What Is a Decision Tree? Algorithms, Template, Examples, and Best Practices</a:t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3"/>
          <p:cNvSpPr txBox="1">
            <a:spLocks noGrp="1"/>
          </p:cNvSpPr>
          <p:nvPr>
            <p:ph type="title"/>
          </p:nvPr>
        </p:nvSpPr>
        <p:spPr>
          <a:xfrm>
            <a:off x="729450" y="7293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Decision Tree</a:t>
            </a:r>
            <a:endParaRPr/>
          </a:p>
        </p:txBody>
      </p:sp>
      <p:sp>
        <p:nvSpPr>
          <p:cNvPr id="348" name="Google Shape;348;p53"/>
          <p:cNvSpPr txBox="1"/>
          <p:nvPr/>
        </p:nvSpPr>
        <p:spPr>
          <a:xfrm>
            <a:off x="729575" y="1365600"/>
            <a:ext cx="76887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Example: A small drug molecule for headache with three descriptors. Find out whether the drug molecule is active or inactive against headaches.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49" name="Google Shape;349;p53"/>
          <p:cNvGraphicFramePr/>
          <p:nvPr/>
        </p:nvGraphicFramePr>
        <p:xfrm>
          <a:off x="914563" y="210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{036A2558-8B2F-41B4-BA36-D2474350B953}</a:tableStyleId>
              </a:tblPr>
              <a:tblGrid>
                <a:gridCol w="40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3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ID</a:t>
                      </a:r>
                      <a:endParaRPr sz="1100" b="1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Descriptor 1</a:t>
                      </a:r>
                      <a:endParaRPr sz="1100" b="1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Descriptor 2</a:t>
                      </a:r>
                      <a:endParaRPr sz="1100" b="1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Descriptor 3</a:t>
                      </a:r>
                      <a:endParaRPr sz="1100" b="1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Active/ Inactive</a:t>
                      </a:r>
                      <a:endParaRPr sz="1100" b="1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14113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28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1216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58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3234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63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1198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55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10974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26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1300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45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1068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38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672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54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1934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36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6260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350" name="Google Shape;350;p53"/>
          <p:cNvCxnSpPr/>
          <p:nvPr/>
        </p:nvCxnSpPr>
        <p:spPr>
          <a:xfrm>
            <a:off x="7425027" y="3928669"/>
            <a:ext cx="354300" cy="4254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51" name="Google Shape;351;p53"/>
          <p:cNvCxnSpPr/>
          <p:nvPr/>
        </p:nvCxnSpPr>
        <p:spPr>
          <a:xfrm flipH="1">
            <a:off x="6561389" y="4006793"/>
            <a:ext cx="232500" cy="3630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52" name="Google Shape;352;p53"/>
          <p:cNvCxnSpPr/>
          <p:nvPr/>
        </p:nvCxnSpPr>
        <p:spPr>
          <a:xfrm flipH="1">
            <a:off x="5709914" y="3642461"/>
            <a:ext cx="286800" cy="3645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53" name="Google Shape;353;p53"/>
          <p:cNvCxnSpPr/>
          <p:nvPr/>
        </p:nvCxnSpPr>
        <p:spPr>
          <a:xfrm>
            <a:off x="6645342" y="3381799"/>
            <a:ext cx="331200" cy="3645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54" name="Google Shape;354;p53"/>
          <p:cNvCxnSpPr/>
          <p:nvPr/>
        </p:nvCxnSpPr>
        <p:spPr>
          <a:xfrm>
            <a:off x="7356701" y="2880811"/>
            <a:ext cx="386700" cy="3195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55" name="Google Shape;355;p53"/>
          <p:cNvCxnSpPr/>
          <p:nvPr/>
        </p:nvCxnSpPr>
        <p:spPr>
          <a:xfrm flipH="1">
            <a:off x="6259421" y="2880811"/>
            <a:ext cx="397500" cy="3195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356" name="Google Shape;356;p53"/>
          <p:cNvSpPr/>
          <p:nvPr/>
        </p:nvSpPr>
        <p:spPr>
          <a:xfrm>
            <a:off x="6639337" y="2673225"/>
            <a:ext cx="764640" cy="49404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2600" cap="flat" cmpd="sng">
            <a:solidFill>
              <a:srgbClr val="0000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719" marR="0" lvl="0" indent="-334799" algn="ctr" rtl="0">
              <a:spcBef>
                <a:spcPts val="298"/>
              </a:spcBef>
              <a:spcAft>
                <a:spcPts val="0"/>
              </a:spcAft>
              <a:buNone/>
            </a:pPr>
            <a:r>
              <a:rPr lang="en-GB" sz="1200" b="1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4076</a:t>
            </a: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53"/>
          <p:cNvSpPr/>
          <p:nvPr/>
        </p:nvSpPr>
        <p:spPr>
          <a:xfrm>
            <a:off x="5818100" y="3213150"/>
            <a:ext cx="827226" cy="45910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2600" cap="flat" cmpd="sng">
            <a:solidFill>
              <a:srgbClr val="0000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719" marR="0" lvl="0" indent="-334799" algn="ctr" rtl="0">
              <a:spcBef>
                <a:spcPts val="298"/>
              </a:spcBef>
              <a:spcAft>
                <a:spcPts val="0"/>
              </a:spcAft>
              <a:buNone/>
            </a:pPr>
            <a:r>
              <a:rPr lang="en-GB" sz="1200" b="1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4</a:t>
            </a: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53"/>
          <p:cNvSpPr/>
          <p:nvPr/>
        </p:nvSpPr>
        <p:spPr>
          <a:xfrm>
            <a:off x="6817538" y="3746125"/>
            <a:ext cx="764640" cy="45910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2600" cap="flat" cmpd="sng">
            <a:solidFill>
              <a:srgbClr val="0000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r>
              <a:rPr lang="en-GB" sz="1200" b="1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719" marR="0" lvl="0" indent="-334799" algn="ctr" rtl="0">
              <a:spcBef>
                <a:spcPts val="275"/>
              </a:spcBef>
              <a:spcAft>
                <a:spcPts val="0"/>
              </a:spcAft>
              <a:buNone/>
            </a:pPr>
            <a:r>
              <a:rPr lang="en-GB" sz="1200" b="1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&lt;= 48</a:t>
            </a: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53"/>
          <p:cNvSpPr/>
          <p:nvPr/>
        </p:nvSpPr>
        <p:spPr>
          <a:xfrm>
            <a:off x="5527442" y="4015475"/>
            <a:ext cx="625725" cy="239324"/>
          </a:xfrm>
          <a:custGeom>
            <a:avLst/>
            <a:gdLst/>
            <a:ahLst/>
            <a:cxnLst/>
            <a:rect l="l" t="t" r="r" b="b"/>
            <a:pathLst>
              <a:path w="1907" h="966" extrusionOk="0">
                <a:moveTo>
                  <a:pt x="161" y="0"/>
                </a:moveTo>
                <a:cubicBezTo>
                  <a:pt x="80" y="0"/>
                  <a:pt x="0" y="80"/>
                  <a:pt x="0" y="161"/>
                </a:cubicBezTo>
                <a:lnTo>
                  <a:pt x="0" y="804"/>
                </a:lnTo>
                <a:cubicBezTo>
                  <a:pt x="0" y="884"/>
                  <a:pt x="80" y="965"/>
                  <a:pt x="161" y="965"/>
                </a:cubicBezTo>
                <a:lnTo>
                  <a:pt x="1745" y="965"/>
                </a:lnTo>
                <a:cubicBezTo>
                  <a:pt x="1825" y="965"/>
                  <a:pt x="1906" y="884"/>
                  <a:pt x="1906" y="804"/>
                </a:cubicBezTo>
                <a:lnTo>
                  <a:pt x="1906" y="161"/>
                </a:lnTo>
                <a:cubicBezTo>
                  <a:pt x="1906" y="80"/>
                  <a:pt x="1825" y="0"/>
                  <a:pt x="1745" y="0"/>
                </a:cubicBezTo>
                <a:lnTo>
                  <a:pt x="161" y="0"/>
                </a:lnTo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GB"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GB"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0" name="Google Shape;360;p53"/>
          <p:cNvSpPr/>
          <p:nvPr/>
        </p:nvSpPr>
        <p:spPr>
          <a:xfrm>
            <a:off x="7586787" y="3200250"/>
            <a:ext cx="625726" cy="262651"/>
          </a:xfrm>
          <a:custGeom>
            <a:avLst/>
            <a:gdLst/>
            <a:ahLst/>
            <a:cxnLst/>
            <a:rect l="l" t="t" r="r" b="b"/>
            <a:pathLst>
              <a:path w="1906" h="1061" extrusionOk="0">
                <a:moveTo>
                  <a:pt x="176" y="0"/>
                </a:moveTo>
                <a:cubicBezTo>
                  <a:pt x="88" y="0"/>
                  <a:pt x="0" y="88"/>
                  <a:pt x="0" y="176"/>
                </a:cubicBezTo>
                <a:lnTo>
                  <a:pt x="0" y="883"/>
                </a:lnTo>
                <a:cubicBezTo>
                  <a:pt x="0" y="971"/>
                  <a:pt x="88" y="1060"/>
                  <a:pt x="176" y="1060"/>
                </a:cubicBezTo>
                <a:lnTo>
                  <a:pt x="1729" y="1060"/>
                </a:lnTo>
                <a:cubicBezTo>
                  <a:pt x="1817" y="1060"/>
                  <a:pt x="1905" y="971"/>
                  <a:pt x="1905" y="883"/>
                </a:cubicBezTo>
                <a:lnTo>
                  <a:pt x="1905" y="176"/>
                </a:lnTo>
                <a:cubicBezTo>
                  <a:pt x="1905" y="88"/>
                  <a:pt x="1817" y="0"/>
                  <a:pt x="1729" y="0"/>
                </a:cubicBezTo>
                <a:lnTo>
                  <a:pt x="176" y="0"/>
                </a:lnTo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1</a:t>
            </a: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53"/>
          <p:cNvSpPr/>
          <p:nvPr/>
        </p:nvSpPr>
        <p:spPr>
          <a:xfrm>
            <a:off x="5894313" y="2740127"/>
            <a:ext cx="680184" cy="23241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53"/>
          <p:cNvSpPr/>
          <p:nvPr/>
        </p:nvSpPr>
        <p:spPr>
          <a:xfrm>
            <a:off x="7044827" y="2706150"/>
            <a:ext cx="687312" cy="23241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53"/>
          <p:cNvSpPr/>
          <p:nvPr/>
        </p:nvSpPr>
        <p:spPr>
          <a:xfrm>
            <a:off x="6042121" y="3972815"/>
            <a:ext cx="680184" cy="23241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53"/>
          <p:cNvSpPr/>
          <p:nvPr/>
        </p:nvSpPr>
        <p:spPr>
          <a:xfrm>
            <a:off x="7265641" y="3973559"/>
            <a:ext cx="687312" cy="23241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3"/>
          <p:cNvSpPr/>
          <p:nvPr/>
        </p:nvSpPr>
        <p:spPr>
          <a:xfrm>
            <a:off x="7109875" y="1843050"/>
            <a:ext cx="1098036" cy="25369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i="1">
                <a:solidFill>
                  <a:srgbClr val="FF0000"/>
                </a:solidFill>
              </a:rPr>
              <a:t>Root node</a:t>
            </a:r>
            <a:endParaRPr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6" name="Google Shape;366;p53"/>
          <p:cNvCxnSpPr/>
          <p:nvPr/>
        </p:nvCxnSpPr>
        <p:spPr>
          <a:xfrm flipH="1">
            <a:off x="7309500" y="2117750"/>
            <a:ext cx="246300" cy="555300"/>
          </a:xfrm>
          <a:prstGeom prst="straightConnector1">
            <a:avLst/>
          </a:prstGeom>
          <a:noFill/>
          <a:ln w="15825" cap="flat" cmpd="sng">
            <a:solidFill>
              <a:srgbClr val="FF0000"/>
            </a:solidFill>
            <a:prstDash val="dashDot"/>
            <a:miter lim="8000"/>
            <a:headEnd type="none" w="sm" len="sm"/>
            <a:tailEnd type="triangle" w="med" len="med"/>
          </a:ln>
        </p:spPr>
      </p:cxnSp>
      <p:sp>
        <p:nvSpPr>
          <p:cNvPr id="367" name="Google Shape;367;p53"/>
          <p:cNvSpPr/>
          <p:nvPr/>
        </p:nvSpPr>
        <p:spPr>
          <a:xfrm>
            <a:off x="4933937" y="3200242"/>
            <a:ext cx="625720" cy="202379"/>
          </a:xfrm>
          <a:custGeom>
            <a:avLst/>
            <a:gdLst/>
            <a:ahLst/>
            <a:cxnLst/>
            <a:rect l="l" t="t" r="r" b="b"/>
            <a:pathLst>
              <a:path w="2542" h="818" extrusionOk="0">
                <a:moveTo>
                  <a:pt x="0" y="204"/>
                </a:moveTo>
                <a:lnTo>
                  <a:pt x="1905" y="204"/>
                </a:lnTo>
                <a:lnTo>
                  <a:pt x="1905" y="0"/>
                </a:lnTo>
                <a:lnTo>
                  <a:pt x="2541" y="408"/>
                </a:lnTo>
                <a:lnTo>
                  <a:pt x="1905" y="817"/>
                </a:lnTo>
                <a:lnTo>
                  <a:pt x="1905" y="612"/>
                </a:lnTo>
                <a:lnTo>
                  <a:pt x="0" y="612"/>
                </a:lnTo>
                <a:lnTo>
                  <a:pt x="0" y="204"/>
                </a:lnTo>
              </a:path>
            </a:pathLst>
          </a:custGeom>
          <a:solidFill>
            <a:srgbClr val="CC0000"/>
          </a:solidFill>
          <a:ln w="12600" cap="flat" cmpd="sng">
            <a:solidFill>
              <a:srgbClr val="CC0000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368" name="Google Shape;368;p53"/>
          <p:cNvCxnSpPr/>
          <p:nvPr/>
        </p:nvCxnSpPr>
        <p:spPr>
          <a:xfrm>
            <a:off x="5806387" y="2407365"/>
            <a:ext cx="93900" cy="759900"/>
          </a:xfrm>
          <a:prstGeom prst="straightConnector1">
            <a:avLst/>
          </a:prstGeom>
          <a:noFill/>
          <a:ln w="15825" cap="flat" cmpd="sng">
            <a:solidFill>
              <a:srgbClr val="FF0000"/>
            </a:solidFill>
            <a:prstDash val="dashDot"/>
            <a:miter lim="8000"/>
            <a:headEnd type="none" w="sm" len="sm"/>
            <a:tailEnd type="triangle" w="med" len="med"/>
          </a:ln>
        </p:spPr>
      </p:cxnSp>
      <p:sp>
        <p:nvSpPr>
          <p:cNvPr id="369" name="Google Shape;369;p53"/>
          <p:cNvSpPr/>
          <p:nvPr/>
        </p:nvSpPr>
        <p:spPr>
          <a:xfrm>
            <a:off x="6099686" y="4845079"/>
            <a:ext cx="2137752" cy="23263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strike="noStrike">
                <a:solidFill>
                  <a:srgbClr val="999900"/>
                </a:solidFill>
                <a:latin typeface="Arial"/>
                <a:ea typeface="Arial"/>
                <a:cs typeface="Arial"/>
                <a:sym typeface="Arial"/>
              </a:rPr>
              <a:t>Model:  Decision Tree</a:t>
            </a:r>
            <a:endParaRPr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53"/>
          <p:cNvSpPr/>
          <p:nvPr/>
        </p:nvSpPr>
        <p:spPr>
          <a:xfrm>
            <a:off x="5118738" y="3625596"/>
            <a:ext cx="680184" cy="23241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53"/>
          <p:cNvSpPr/>
          <p:nvPr/>
        </p:nvSpPr>
        <p:spPr>
          <a:xfrm>
            <a:off x="6328128" y="3251780"/>
            <a:ext cx="687312" cy="23241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3"/>
          <p:cNvSpPr/>
          <p:nvPr/>
        </p:nvSpPr>
        <p:spPr>
          <a:xfrm>
            <a:off x="7582185" y="4362700"/>
            <a:ext cx="625725" cy="239324"/>
          </a:xfrm>
          <a:custGeom>
            <a:avLst/>
            <a:gdLst/>
            <a:ahLst/>
            <a:cxnLst/>
            <a:rect l="l" t="t" r="r" b="b"/>
            <a:pathLst>
              <a:path w="1907" h="966" extrusionOk="0">
                <a:moveTo>
                  <a:pt x="161" y="0"/>
                </a:moveTo>
                <a:cubicBezTo>
                  <a:pt x="80" y="0"/>
                  <a:pt x="0" y="80"/>
                  <a:pt x="0" y="161"/>
                </a:cubicBezTo>
                <a:lnTo>
                  <a:pt x="0" y="804"/>
                </a:lnTo>
                <a:cubicBezTo>
                  <a:pt x="0" y="884"/>
                  <a:pt x="80" y="965"/>
                  <a:pt x="161" y="965"/>
                </a:cubicBezTo>
                <a:lnTo>
                  <a:pt x="1745" y="965"/>
                </a:lnTo>
                <a:cubicBezTo>
                  <a:pt x="1825" y="965"/>
                  <a:pt x="1906" y="884"/>
                  <a:pt x="1906" y="804"/>
                </a:cubicBezTo>
                <a:lnTo>
                  <a:pt x="1906" y="161"/>
                </a:lnTo>
                <a:cubicBezTo>
                  <a:pt x="1906" y="80"/>
                  <a:pt x="1825" y="0"/>
                  <a:pt x="1745" y="0"/>
                </a:cubicBezTo>
                <a:lnTo>
                  <a:pt x="161" y="0"/>
                </a:lnTo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GB"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3"/>
          <p:cNvSpPr/>
          <p:nvPr/>
        </p:nvSpPr>
        <p:spPr>
          <a:xfrm>
            <a:off x="6202664" y="4369875"/>
            <a:ext cx="625725" cy="239351"/>
          </a:xfrm>
          <a:custGeom>
            <a:avLst/>
            <a:gdLst/>
            <a:ahLst/>
            <a:cxnLst/>
            <a:rect l="l" t="t" r="r" b="b"/>
            <a:pathLst>
              <a:path w="1907" h="966" extrusionOk="0">
                <a:moveTo>
                  <a:pt x="161" y="0"/>
                </a:moveTo>
                <a:cubicBezTo>
                  <a:pt x="80" y="0"/>
                  <a:pt x="0" y="80"/>
                  <a:pt x="0" y="161"/>
                </a:cubicBezTo>
                <a:lnTo>
                  <a:pt x="0" y="804"/>
                </a:lnTo>
                <a:cubicBezTo>
                  <a:pt x="0" y="884"/>
                  <a:pt x="80" y="965"/>
                  <a:pt x="161" y="965"/>
                </a:cubicBezTo>
                <a:lnTo>
                  <a:pt x="1745" y="965"/>
                </a:lnTo>
                <a:cubicBezTo>
                  <a:pt x="1825" y="965"/>
                  <a:pt x="1906" y="884"/>
                  <a:pt x="1906" y="804"/>
                </a:cubicBezTo>
                <a:lnTo>
                  <a:pt x="1906" y="161"/>
                </a:lnTo>
                <a:cubicBezTo>
                  <a:pt x="1906" y="80"/>
                  <a:pt x="1825" y="0"/>
                  <a:pt x="1745" y="0"/>
                </a:cubicBezTo>
                <a:lnTo>
                  <a:pt x="161" y="0"/>
                </a:lnTo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GB"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53"/>
          <p:cNvCxnSpPr/>
          <p:nvPr/>
        </p:nvCxnSpPr>
        <p:spPr>
          <a:xfrm>
            <a:off x="5829750" y="2419250"/>
            <a:ext cx="1365600" cy="1289400"/>
          </a:xfrm>
          <a:prstGeom prst="straightConnector1">
            <a:avLst/>
          </a:prstGeom>
          <a:noFill/>
          <a:ln w="15825" cap="flat" cmpd="sng">
            <a:solidFill>
              <a:srgbClr val="FF0000"/>
            </a:solidFill>
            <a:prstDash val="dashDot"/>
            <a:miter lim="8000"/>
            <a:headEnd type="none" w="sm" len="sm"/>
            <a:tailEnd type="triangle" w="med" len="med"/>
          </a:ln>
        </p:spPr>
      </p:cxnSp>
      <p:sp>
        <p:nvSpPr>
          <p:cNvPr id="375" name="Google Shape;375;p53"/>
          <p:cNvSpPr/>
          <p:nvPr/>
        </p:nvSpPr>
        <p:spPr>
          <a:xfrm>
            <a:off x="5118750" y="1945838"/>
            <a:ext cx="1327968" cy="25369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i="1">
                <a:solidFill>
                  <a:srgbClr val="FF0000"/>
                </a:solidFill>
              </a:rPr>
              <a:t>Intermediate nodes</a:t>
            </a:r>
            <a:endParaRPr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p53"/>
          <p:cNvCxnSpPr/>
          <p:nvPr/>
        </p:nvCxnSpPr>
        <p:spPr>
          <a:xfrm flipH="1">
            <a:off x="8103525" y="4075975"/>
            <a:ext cx="346500" cy="263400"/>
          </a:xfrm>
          <a:prstGeom prst="straightConnector1">
            <a:avLst/>
          </a:prstGeom>
          <a:noFill/>
          <a:ln w="15825" cap="flat" cmpd="sng">
            <a:solidFill>
              <a:srgbClr val="FF0000"/>
            </a:solidFill>
            <a:prstDash val="dashDot"/>
            <a:miter lim="8000"/>
            <a:headEnd type="none" w="sm" len="sm"/>
            <a:tailEnd type="triangle" w="med" len="med"/>
          </a:ln>
        </p:spPr>
      </p:cxnSp>
      <p:sp>
        <p:nvSpPr>
          <p:cNvPr id="377" name="Google Shape;377;p53"/>
          <p:cNvSpPr/>
          <p:nvPr/>
        </p:nvSpPr>
        <p:spPr>
          <a:xfrm>
            <a:off x="7952949" y="3785950"/>
            <a:ext cx="1161540" cy="25369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i="1">
                <a:solidFill>
                  <a:srgbClr val="FF0000"/>
                </a:solidFill>
              </a:rPr>
              <a:t>Leaf nodes</a:t>
            </a:r>
            <a:endParaRPr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" name="Google Shape;378;p53"/>
          <p:cNvCxnSpPr/>
          <p:nvPr/>
        </p:nvCxnSpPr>
        <p:spPr>
          <a:xfrm rot="10800000">
            <a:off x="8068825" y="3521475"/>
            <a:ext cx="402000" cy="270300"/>
          </a:xfrm>
          <a:prstGeom prst="straightConnector1">
            <a:avLst/>
          </a:prstGeom>
          <a:noFill/>
          <a:ln w="15825" cap="flat" cmpd="sng">
            <a:solidFill>
              <a:srgbClr val="FF0000"/>
            </a:solidFill>
            <a:prstDash val="dashDot"/>
            <a:miter lim="8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4"/>
          <p:cNvSpPr txBox="1">
            <a:spLocks noGrp="1"/>
          </p:cNvSpPr>
          <p:nvPr>
            <p:ph type="title"/>
          </p:nvPr>
        </p:nvSpPr>
        <p:spPr>
          <a:xfrm>
            <a:off x="729450" y="7293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attribute to use to split and split point</a:t>
            </a:r>
            <a:endParaRPr/>
          </a:p>
        </p:txBody>
      </p:sp>
      <p:sp>
        <p:nvSpPr>
          <p:cNvPr id="384" name="Google Shape;384;p54"/>
          <p:cNvSpPr txBox="1"/>
          <p:nvPr/>
        </p:nvSpPr>
        <p:spPr>
          <a:xfrm>
            <a:off x="729575" y="1365600"/>
            <a:ext cx="7688700" cy="15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Take first feature -&gt; discretise the values -&gt; pick a split point -&gt; calculate impurity/add info using example at the split point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Repeat this for every split point for all features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Select the feature-split pair with least impurity or most add info -&gt; decision node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Repeat these steps till you reach a point where each node has example for only one class or up to pre-defined depth 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85" name="Google Shape;385;p54"/>
          <p:cNvCxnSpPr/>
          <p:nvPr/>
        </p:nvCxnSpPr>
        <p:spPr>
          <a:xfrm>
            <a:off x="2094123" y="3354807"/>
            <a:ext cx="4929300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6" name="Google Shape;386;p54"/>
          <p:cNvSpPr txBox="1"/>
          <p:nvPr/>
        </p:nvSpPr>
        <p:spPr>
          <a:xfrm>
            <a:off x="1663738" y="3466109"/>
            <a:ext cx="759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D1 min</a:t>
            </a:r>
            <a:endParaRPr/>
          </a:p>
        </p:txBody>
      </p:sp>
      <p:sp>
        <p:nvSpPr>
          <p:cNvPr id="387" name="Google Shape;387;p54"/>
          <p:cNvSpPr txBox="1"/>
          <p:nvPr/>
        </p:nvSpPr>
        <p:spPr>
          <a:xfrm>
            <a:off x="6643561" y="3466109"/>
            <a:ext cx="83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D1 max</a:t>
            </a:r>
            <a:endParaRPr/>
          </a:p>
        </p:txBody>
      </p:sp>
      <p:sp>
        <p:nvSpPr>
          <p:cNvPr id="388" name="Google Shape;388;p54"/>
          <p:cNvSpPr/>
          <p:nvPr/>
        </p:nvSpPr>
        <p:spPr>
          <a:xfrm>
            <a:off x="2632106" y="3301687"/>
            <a:ext cx="114000" cy="113700"/>
          </a:xfrm>
          <a:prstGeom prst="ellipse">
            <a:avLst/>
          </a:prstGeom>
          <a:solidFill>
            <a:srgbClr val="4F81BD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54"/>
          <p:cNvSpPr/>
          <p:nvPr/>
        </p:nvSpPr>
        <p:spPr>
          <a:xfrm>
            <a:off x="2043490" y="3301687"/>
            <a:ext cx="114000" cy="113700"/>
          </a:xfrm>
          <a:prstGeom prst="ellipse">
            <a:avLst/>
          </a:prstGeom>
          <a:solidFill>
            <a:srgbClr val="4F81BD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54"/>
          <p:cNvSpPr/>
          <p:nvPr/>
        </p:nvSpPr>
        <p:spPr>
          <a:xfrm>
            <a:off x="6966351" y="3301687"/>
            <a:ext cx="114000" cy="113700"/>
          </a:xfrm>
          <a:prstGeom prst="ellipse">
            <a:avLst/>
          </a:prstGeom>
          <a:solidFill>
            <a:srgbClr val="4F81BD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54"/>
          <p:cNvSpPr/>
          <p:nvPr/>
        </p:nvSpPr>
        <p:spPr>
          <a:xfrm>
            <a:off x="4444793" y="3301687"/>
            <a:ext cx="114000" cy="113700"/>
          </a:xfrm>
          <a:prstGeom prst="ellipse">
            <a:avLst/>
          </a:prstGeom>
          <a:solidFill>
            <a:srgbClr val="4F81BD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4"/>
          <p:cNvSpPr/>
          <p:nvPr/>
        </p:nvSpPr>
        <p:spPr>
          <a:xfrm>
            <a:off x="6257479" y="3297892"/>
            <a:ext cx="114000" cy="113700"/>
          </a:xfrm>
          <a:prstGeom prst="ellipse">
            <a:avLst/>
          </a:prstGeom>
          <a:solidFill>
            <a:srgbClr val="4F81BD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4"/>
          <p:cNvSpPr txBox="1"/>
          <p:nvPr/>
        </p:nvSpPr>
        <p:spPr>
          <a:xfrm>
            <a:off x="2540966" y="2936365"/>
            <a:ext cx="20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94" name="Google Shape;394;p54"/>
          <p:cNvSpPr txBox="1"/>
          <p:nvPr/>
        </p:nvSpPr>
        <p:spPr>
          <a:xfrm>
            <a:off x="4272005" y="2966719"/>
            <a:ext cx="459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3.5</a:t>
            </a:r>
            <a:endParaRPr/>
          </a:p>
        </p:txBody>
      </p:sp>
      <p:sp>
        <p:nvSpPr>
          <p:cNvPr id="395" name="Google Shape;395;p54"/>
          <p:cNvSpPr txBox="1"/>
          <p:nvPr/>
        </p:nvSpPr>
        <p:spPr>
          <a:xfrm>
            <a:off x="6196086" y="2930673"/>
            <a:ext cx="23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396" name="Google Shape;396;p54"/>
          <p:cNvCxnSpPr/>
          <p:nvPr/>
        </p:nvCxnSpPr>
        <p:spPr>
          <a:xfrm flipH="1">
            <a:off x="3830040" y="4019094"/>
            <a:ext cx="348000" cy="4389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97" name="Google Shape;397;p54"/>
          <p:cNvCxnSpPr/>
          <p:nvPr/>
        </p:nvCxnSpPr>
        <p:spPr>
          <a:xfrm>
            <a:off x="4953508" y="3962970"/>
            <a:ext cx="402300" cy="4389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398" name="Google Shape;398;p54"/>
          <p:cNvSpPr/>
          <p:nvPr/>
        </p:nvSpPr>
        <p:spPr>
          <a:xfrm>
            <a:off x="4188805" y="3654330"/>
            <a:ext cx="776520" cy="59513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2600" cap="flat" cmpd="sng">
            <a:solidFill>
              <a:srgbClr val="0000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719" marR="0" lvl="0" indent="-334799" algn="ctr" rtl="0">
              <a:spcBef>
                <a:spcPts val="298"/>
              </a:spcBef>
              <a:spcAft>
                <a:spcPts val="0"/>
              </a:spcAft>
              <a:buNone/>
            </a:pPr>
            <a:r>
              <a:rPr lang="en-GB" sz="1200" b="1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GB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4"/>
          <p:cNvSpPr/>
          <p:nvPr/>
        </p:nvSpPr>
        <p:spPr>
          <a:xfrm>
            <a:off x="3697571" y="3816890"/>
            <a:ext cx="268002" cy="2921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54"/>
          <p:cNvSpPr/>
          <p:nvPr/>
        </p:nvSpPr>
        <p:spPr>
          <a:xfrm>
            <a:off x="5020689" y="3689367"/>
            <a:ext cx="293328" cy="27993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4"/>
          <p:cNvSpPr/>
          <p:nvPr/>
        </p:nvSpPr>
        <p:spPr>
          <a:xfrm>
            <a:off x="3367648" y="4457981"/>
            <a:ext cx="776520" cy="59513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2600" cap="flat" cmpd="sng">
            <a:solidFill>
              <a:srgbClr val="0000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54"/>
          <p:cNvSpPr/>
          <p:nvPr/>
        </p:nvSpPr>
        <p:spPr>
          <a:xfrm>
            <a:off x="4925730" y="4401857"/>
            <a:ext cx="776520" cy="59513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2600" cap="flat" cmpd="sng">
            <a:solidFill>
              <a:srgbClr val="0000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5"/>
          <p:cNvSpPr txBox="1">
            <a:spLocks noGrp="1"/>
          </p:cNvSpPr>
          <p:nvPr>
            <p:ph type="title"/>
          </p:nvPr>
        </p:nvSpPr>
        <p:spPr>
          <a:xfrm>
            <a:off x="729450" y="7293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 Decision Tree</a:t>
            </a:r>
            <a:endParaRPr/>
          </a:p>
        </p:txBody>
      </p:sp>
      <p:sp>
        <p:nvSpPr>
          <p:cNvPr id="408" name="Google Shape;408;p55"/>
          <p:cNvSpPr txBox="1"/>
          <p:nvPr/>
        </p:nvSpPr>
        <p:spPr>
          <a:xfrm>
            <a:off x="729575" y="1365600"/>
            <a:ext cx="76887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Base on different splitting criteria, there could be more than one tree that fits the same data.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09" name="Google Shape;409;p55"/>
          <p:cNvGraphicFramePr/>
          <p:nvPr/>
        </p:nvGraphicFramePr>
        <p:xfrm>
          <a:off x="914563" y="210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{036A2558-8B2F-41B4-BA36-D2474350B953}</a:tableStyleId>
              </a:tblPr>
              <a:tblGrid>
                <a:gridCol w="40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3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ID</a:t>
                      </a:r>
                      <a:endParaRPr sz="1100" b="1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Descriptor 1</a:t>
                      </a:r>
                      <a:endParaRPr sz="1100" b="1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Descriptor 2</a:t>
                      </a:r>
                      <a:endParaRPr sz="1100" b="1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Descriptor 3</a:t>
                      </a:r>
                      <a:endParaRPr sz="1100" b="1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Active/ Inactive</a:t>
                      </a:r>
                      <a:endParaRPr sz="1100" b="1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14113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28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1216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58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3234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63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1198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55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10974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26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1300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45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1068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38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672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54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1934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36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6260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410" name="Google Shape;410;p55"/>
          <p:cNvCxnSpPr/>
          <p:nvPr/>
        </p:nvCxnSpPr>
        <p:spPr>
          <a:xfrm>
            <a:off x="8195224" y="2229759"/>
            <a:ext cx="455100" cy="3906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411" name="Google Shape;411;p55"/>
          <p:cNvCxnSpPr/>
          <p:nvPr/>
        </p:nvCxnSpPr>
        <p:spPr>
          <a:xfrm flipH="1">
            <a:off x="7024747" y="2193132"/>
            <a:ext cx="459300" cy="3966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412" name="Google Shape;412;p55"/>
          <p:cNvSpPr/>
          <p:nvPr/>
        </p:nvSpPr>
        <p:spPr>
          <a:xfrm>
            <a:off x="7454725" y="1993375"/>
            <a:ext cx="740502" cy="53519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2600" cap="flat" cmpd="sng">
            <a:solidFill>
              <a:srgbClr val="0000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719" marR="0" lvl="0" indent="-334799" algn="ctr" rtl="0">
              <a:spcBef>
                <a:spcPts val="298"/>
              </a:spcBef>
              <a:spcAft>
                <a:spcPts val="0"/>
              </a:spcAft>
              <a:buNone/>
            </a:pPr>
            <a:r>
              <a:rPr lang="en-GB" sz="1200" b="1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7897</a:t>
            </a: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55"/>
          <p:cNvSpPr/>
          <p:nvPr/>
        </p:nvSpPr>
        <p:spPr>
          <a:xfrm>
            <a:off x="5317220" y="4497874"/>
            <a:ext cx="542131" cy="297018"/>
          </a:xfrm>
          <a:custGeom>
            <a:avLst/>
            <a:gdLst/>
            <a:ahLst/>
            <a:cxnLst/>
            <a:rect l="l" t="t" r="r" b="b"/>
            <a:pathLst>
              <a:path w="1907" h="966" extrusionOk="0">
                <a:moveTo>
                  <a:pt x="161" y="0"/>
                </a:moveTo>
                <a:cubicBezTo>
                  <a:pt x="80" y="0"/>
                  <a:pt x="0" y="80"/>
                  <a:pt x="0" y="161"/>
                </a:cubicBezTo>
                <a:lnTo>
                  <a:pt x="0" y="804"/>
                </a:lnTo>
                <a:cubicBezTo>
                  <a:pt x="0" y="884"/>
                  <a:pt x="80" y="965"/>
                  <a:pt x="161" y="965"/>
                </a:cubicBezTo>
                <a:lnTo>
                  <a:pt x="1745" y="965"/>
                </a:lnTo>
                <a:cubicBezTo>
                  <a:pt x="1825" y="965"/>
                  <a:pt x="1906" y="884"/>
                  <a:pt x="1906" y="804"/>
                </a:cubicBezTo>
                <a:lnTo>
                  <a:pt x="1906" y="161"/>
                </a:lnTo>
                <a:cubicBezTo>
                  <a:pt x="1906" y="80"/>
                  <a:pt x="1825" y="0"/>
                  <a:pt x="1745" y="0"/>
                </a:cubicBezTo>
                <a:lnTo>
                  <a:pt x="161" y="0"/>
                </a:lnTo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55"/>
          <p:cNvSpPr/>
          <p:nvPr/>
        </p:nvSpPr>
        <p:spPr>
          <a:xfrm>
            <a:off x="5204251" y="4517275"/>
            <a:ext cx="831600" cy="2884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5" name="Google Shape;415;p55"/>
          <p:cNvGrpSpPr/>
          <p:nvPr/>
        </p:nvGrpSpPr>
        <p:grpSpPr>
          <a:xfrm>
            <a:off x="8333713" y="2651190"/>
            <a:ext cx="767512" cy="318882"/>
            <a:chOff x="8208000" y="2736000"/>
            <a:chExt cx="970920" cy="372961"/>
          </a:xfrm>
        </p:grpSpPr>
        <p:sp>
          <p:nvSpPr>
            <p:cNvPr id="416" name="Google Shape;416;p55"/>
            <p:cNvSpPr/>
            <p:nvPr/>
          </p:nvSpPr>
          <p:spPr>
            <a:xfrm>
              <a:off x="8375760" y="2736000"/>
              <a:ext cx="677879" cy="372961"/>
            </a:xfrm>
            <a:custGeom>
              <a:avLst/>
              <a:gdLst/>
              <a:ahLst/>
              <a:cxnLst/>
              <a:rect l="l" t="t" r="r" b="b"/>
              <a:pathLst>
                <a:path w="1885" h="1038" extrusionOk="0">
                  <a:moveTo>
                    <a:pt x="172" y="0"/>
                  </a:moveTo>
                  <a:cubicBezTo>
                    <a:pt x="86" y="0"/>
                    <a:pt x="0" y="86"/>
                    <a:pt x="0" y="172"/>
                  </a:cubicBezTo>
                  <a:lnTo>
                    <a:pt x="0" y="864"/>
                  </a:lnTo>
                  <a:cubicBezTo>
                    <a:pt x="0" y="950"/>
                    <a:pt x="86" y="1037"/>
                    <a:pt x="172" y="1037"/>
                  </a:cubicBezTo>
                  <a:lnTo>
                    <a:pt x="1711" y="1037"/>
                  </a:lnTo>
                  <a:cubicBezTo>
                    <a:pt x="1797" y="1037"/>
                    <a:pt x="1884" y="950"/>
                    <a:pt x="1884" y="864"/>
                  </a:cubicBezTo>
                  <a:lnTo>
                    <a:pt x="1884" y="172"/>
                  </a:lnTo>
                  <a:cubicBezTo>
                    <a:pt x="1884" y="86"/>
                    <a:pt x="1797" y="0"/>
                    <a:pt x="1711" y="0"/>
                  </a:cubicBezTo>
                  <a:lnTo>
                    <a:pt x="172" y="0"/>
                  </a:lnTo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55"/>
            <p:cNvSpPr/>
            <p:nvPr/>
          </p:nvSpPr>
          <p:spPr>
            <a:xfrm>
              <a:off x="8208000" y="2736000"/>
              <a:ext cx="970920" cy="33733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noAutofit/>
            </a:bodyPr>
            <a:lstStyle/>
            <a:p>
              <a:pPr marL="342719" marR="0" lvl="0" indent="-334799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6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8" name="Google Shape;418;p55"/>
          <p:cNvSpPr/>
          <p:nvPr/>
        </p:nvSpPr>
        <p:spPr>
          <a:xfrm>
            <a:off x="6352823" y="2178050"/>
            <a:ext cx="785754" cy="2884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55"/>
          <p:cNvSpPr/>
          <p:nvPr/>
        </p:nvSpPr>
        <p:spPr>
          <a:xfrm>
            <a:off x="7874497" y="2097101"/>
            <a:ext cx="793962" cy="2884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55"/>
          <p:cNvSpPr/>
          <p:nvPr/>
        </p:nvSpPr>
        <p:spPr>
          <a:xfrm>
            <a:off x="6284800" y="2589574"/>
            <a:ext cx="740502" cy="53519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2600" cap="flat" cmpd="sng">
            <a:solidFill>
              <a:srgbClr val="0000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719" marR="0" lvl="0" indent="-334799" algn="ctr" rtl="0">
              <a:spcBef>
                <a:spcPts val="298"/>
              </a:spcBef>
              <a:spcAft>
                <a:spcPts val="0"/>
              </a:spcAft>
              <a:buNone/>
            </a:pPr>
            <a:r>
              <a:rPr lang="en-GB" sz="1200" b="1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3</a:t>
            </a: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1" name="Google Shape;421;p55"/>
          <p:cNvCxnSpPr/>
          <p:nvPr/>
        </p:nvCxnSpPr>
        <p:spPr>
          <a:xfrm flipH="1">
            <a:off x="6000492" y="3202688"/>
            <a:ext cx="288300" cy="4950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422" name="Google Shape;422;p55"/>
          <p:cNvCxnSpPr/>
          <p:nvPr/>
        </p:nvCxnSpPr>
        <p:spPr>
          <a:xfrm>
            <a:off x="7028712" y="3202688"/>
            <a:ext cx="337500" cy="4335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423" name="Google Shape;423;p55"/>
          <p:cNvSpPr/>
          <p:nvPr/>
        </p:nvSpPr>
        <p:spPr>
          <a:xfrm>
            <a:off x="5601225" y="3697625"/>
            <a:ext cx="831600" cy="297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2600" cap="flat" cmpd="sng">
            <a:solidFill>
              <a:srgbClr val="0000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D3 &gt;= 30</a:t>
            </a: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4" name="Google Shape;424;p55"/>
          <p:cNvGrpSpPr/>
          <p:nvPr/>
        </p:nvGrpSpPr>
        <p:grpSpPr>
          <a:xfrm>
            <a:off x="6997041" y="3686630"/>
            <a:ext cx="767512" cy="318882"/>
            <a:chOff x="6517080" y="3947040"/>
            <a:chExt cx="970920" cy="372961"/>
          </a:xfrm>
        </p:grpSpPr>
        <p:sp>
          <p:nvSpPr>
            <p:cNvPr id="425" name="Google Shape;425;p55"/>
            <p:cNvSpPr/>
            <p:nvPr/>
          </p:nvSpPr>
          <p:spPr>
            <a:xfrm>
              <a:off x="6684840" y="3947040"/>
              <a:ext cx="677879" cy="372961"/>
            </a:xfrm>
            <a:custGeom>
              <a:avLst/>
              <a:gdLst/>
              <a:ahLst/>
              <a:cxnLst/>
              <a:rect l="l" t="t" r="r" b="b"/>
              <a:pathLst>
                <a:path w="1885" h="1038" extrusionOk="0">
                  <a:moveTo>
                    <a:pt x="172" y="0"/>
                  </a:moveTo>
                  <a:cubicBezTo>
                    <a:pt x="86" y="0"/>
                    <a:pt x="0" y="86"/>
                    <a:pt x="0" y="172"/>
                  </a:cubicBezTo>
                  <a:lnTo>
                    <a:pt x="0" y="864"/>
                  </a:lnTo>
                  <a:cubicBezTo>
                    <a:pt x="0" y="950"/>
                    <a:pt x="86" y="1037"/>
                    <a:pt x="172" y="1037"/>
                  </a:cubicBezTo>
                  <a:lnTo>
                    <a:pt x="1711" y="1037"/>
                  </a:lnTo>
                  <a:cubicBezTo>
                    <a:pt x="1797" y="1037"/>
                    <a:pt x="1884" y="950"/>
                    <a:pt x="1884" y="864"/>
                  </a:cubicBezTo>
                  <a:lnTo>
                    <a:pt x="1884" y="172"/>
                  </a:lnTo>
                  <a:cubicBezTo>
                    <a:pt x="1884" y="86"/>
                    <a:pt x="1797" y="0"/>
                    <a:pt x="1711" y="0"/>
                  </a:cubicBezTo>
                  <a:lnTo>
                    <a:pt x="172" y="0"/>
                  </a:lnTo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55"/>
            <p:cNvSpPr/>
            <p:nvPr/>
          </p:nvSpPr>
          <p:spPr>
            <a:xfrm>
              <a:off x="6517080" y="3947040"/>
              <a:ext cx="970920" cy="33733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noAutofit/>
            </a:bodyPr>
            <a:lstStyle/>
            <a:p>
              <a:pPr marL="342719" marR="0" lvl="0" indent="-334799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6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7" name="Google Shape;427;p55"/>
          <p:cNvGrpSpPr/>
          <p:nvPr/>
        </p:nvGrpSpPr>
        <p:grpSpPr>
          <a:xfrm>
            <a:off x="6655545" y="4374870"/>
            <a:ext cx="767512" cy="318882"/>
            <a:chOff x="6085080" y="4752000"/>
            <a:chExt cx="970920" cy="372961"/>
          </a:xfrm>
        </p:grpSpPr>
        <p:sp>
          <p:nvSpPr>
            <p:cNvPr id="428" name="Google Shape;428;p55"/>
            <p:cNvSpPr/>
            <p:nvPr/>
          </p:nvSpPr>
          <p:spPr>
            <a:xfrm>
              <a:off x="6252840" y="4752000"/>
              <a:ext cx="677879" cy="372961"/>
            </a:xfrm>
            <a:custGeom>
              <a:avLst/>
              <a:gdLst/>
              <a:ahLst/>
              <a:cxnLst/>
              <a:rect l="l" t="t" r="r" b="b"/>
              <a:pathLst>
                <a:path w="1885" h="1038" extrusionOk="0">
                  <a:moveTo>
                    <a:pt x="172" y="0"/>
                  </a:moveTo>
                  <a:cubicBezTo>
                    <a:pt x="86" y="0"/>
                    <a:pt x="0" y="86"/>
                    <a:pt x="0" y="172"/>
                  </a:cubicBezTo>
                  <a:lnTo>
                    <a:pt x="0" y="864"/>
                  </a:lnTo>
                  <a:cubicBezTo>
                    <a:pt x="0" y="950"/>
                    <a:pt x="86" y="1037"/>
                    <a:pt x="172" y="1037"/>
                  </a:cubicBezTo>
                  <a:lnTo>
                    <a:pt x="1711" y="1037"/>
                  </a:lnTo>
                  <a:cubicBezTo>
                    <a:pt x="1797" y="1037"/>
                    <a:pt x="1884" y="950"/>
                    <a:pt x="1884" y="864"/>
                  </a:cubicBezTo>
                  <a:lnTo>
                    <a:pt x="1884" y="172"/>
                  </a:lnTo>
                  <a:cubicBezTo>
                    <a:pt x="1884" y="86"/>
                    <a:pt x="1797" y="0"/>
                    <a:pt x="1711" y="0"/>
                  </a:cubicBezTo>
                  <a:lnTo>
                    <a:pt x="172" y="0"/>
                  </a:lnTo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55"/>
            <p:cNvSpPr/>
            <p:nvPr/>
          </p:nvSpPr>
          <p:spPr>
            <a:xfrm>
              <a:off x="6085080" y="4752000"/>
              <a:ext cx="970920" cy="33733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noAutofit/>
            </a:bodyPr>
            <a:lstStyle/>
            <a:p>
              <a:pPr marL="342719" marR="0" lvl="0" indent="-334799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6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30" name="Google Shape;430;p55"/>
          <p:cNvCxnSpPr/>
          <p:nvPr/>
        </p:nvCxnSpPr>
        <p:spPr>
          <a:xfrm>
            <a:off x="6345709" y="3943850"/>
            <a:ext cx="394500" cy="4836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431" name="Google Shape;431;p55"/>
          <p:cNvCxnSpPr/>
          <p:nvPr/>
        </p:nvCxnSpPr>
        <p:spPr>
          <a:xfrm flipH="1">
            <a:off x="5658939" y="3934000"/>
            <a:ext cx="56700" cy="5637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432" name="Google Shape;432;p55"/>
          <p:cNvSpPr/>
          <p:nvPr/>
        </p:nvSpPr>
        <p:spPr>
          <a:xfrm>
            <a:off x="5431054" y="3224541"/>
            <a:ext cx="785754" cy="2884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55"/>
          <p:cNvSpPr/>
          <p:nvPr/>
        </p:nvSpPr>
        <p:spPr>
          <a:xfrm>
            <a:off x="4759150" y="4024799"/>
            <a:ext cx="785754" cy="2884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55"/>
          <p:cNvSpPr/>
          <p:nvPr/>
        </p:nvSpPr>
        <p:spPr>
          <a:xfrm>
            <a:off x="6742989" y="3101424"/>
            <a:ext cx="793962" cy="2884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55"/>
          <p:cNvSpPr/>
          <p:nvPr/>
        </p:nvSpPr>
        <p:spPr>
          <a:xfrm>
            <a:off x="6003069" y="3934000"/>
            <a:ext cx="793962" cy="2884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55"/>
          <p:cNvSpPr/>
          <p:nvPr/>
        </p:nvSpPr>
        <p:spPr>
          <a:xfrm>
            <a:off x="4933937" y="3200242"/>
            <a:ext cx="625720" cy="202379"/>
          </a:xfrm>
          <a:custGeom>
            <a:avLst/>
            <a:gdLst/>
            <a:ahLst/>
            <a:cxnLst/>
            <a:rect l="l" t="t" r="r" b="b"/>
            <a:pathLst>
              <a:path w="2542" h="818" extrusionOk="0">
                <a:moveTo>
                  <a:pt x="0" y="204"/>
                </a:moveTo>
                <a:lnTo>
                  <a:pt x="1905" y="204"/>
                </a:lnTo>
                <a:lnTo>
                  <a:pt x="1905" y="0"/>
                </a:lnTo>
                <a:lnTo>
                  <a:pt x="2541" y="408"/>
                </a:lnTo>
                <a:lnTo>
                  <a:pt x="1905" y="817"/>
                </a:lnTo>
                <a:lnTo>
                  <a:pt x="1905" y="612"/>
                </a:lnTo>
                <a:lnTo>
                  <a:pt x="0" y="612"/>
                </a:lnTo>
                <a:lnTo>
                  <a:pt x="0" y="204"/>
                </a:lnTo>
              </a:path>
            </a:pathLst>
          </a:custGeom>
          <a:solidFill>
            <a:srgbClr val="CC0000"/>
          </a:solidFill>
          <a:ln w="12600" cap="flat" cmpd="sng">
            <a:solidFill>
              <a:srgbClr val="CC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6"/>
          <p:cNvSpPr txBox="1">
            <a:spLocks noGrp="1"/>
          </p:cNvSpPr>
          <p:nvPr>
            <p:ph type="title"/>
          </p:nvPr>
        </p:nvSpPr>
        <p:spPr>
          <a:xfrm>
            <a:off x="729450" y="7293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Decision Tree to Rules</a:t>
            </a:r>
            <a:endParaRPr/>
          </a:p>
        </p:txBody>
      </p:sp>
      <p:cxnSp>
        <p:nvCxnSpPr>
          <p:cNvPr id="442" name="Google Shape;442;p56"/>
          <p:cNvCxnSpPr/>
          <p:nvPr/>
        </p:nvCxnSpPr>
        <p:spPr>
          <a:xfrm>
            <a:off x="7891477" y="3627392"/>
            <a:ext cx="426000" cy="6138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443" name="Google Shape;443;p56"/>
          <p:cNvCxnSpPr/>
          <p:nvPr/>
        </p:nvCxnSpPr>
        <p:spPr>
          <a:xfrm flipH="1">
            <a:off x="6853094" y="3740101"/>
            <a:ext cx="279600" cy="5238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444" name="Google Shape;444;p56"/>
          <p:cNvCxnSpPr/>
          <p:nvPr/>
        </p:nvCxnSpPr>
        <p:spPr>
          <a:xfrm flipH="1">
            <a:off x="5829595" y="3214482"/>
            <a:ext cx="344700" cy="5259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445" name="Google Shape;445;p56"/>
          <p:cNvCxnSpPr/>
          <p:nvPr/>
        </p:nvCxnSpPr>
        <p:spPr>
          <a:xfrm>
            <a:off x="6954105" y="2838427"/>
            <a:ext cx="398100" cy="5259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446" name="Google Shape;446;p56"/>
          <p:cNvCxnSpPr/>
          <p:nvPr/>
        </p:nvCxnSpPr>
        <p:spPr>
          <a:xfrm>
            <a:off x="7809332" y="2115657"/>
            <a:ext cx="465000" cy="4608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447" name="Google Shape;447;p56"/>
          <p:cNvCxnSpPr/>
          <p:nvPr/>
        </p:nvCxnSpPr>
        <p:spPr>
          <a:xfrm flipH="1">
            <a:off x="6490125" y="2115657"/>
            <a:ext cx="477900" cy="460800"/>
          </a:xfrm>
          <a:prstGeom prst="straightConnector1">
            <a:avLst/>
          </a:prstGeom>
          <a:noFill/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448" name="Google Shape;448;p56"/>
          <p:cNvSpPr/>
          <p:nvPr/>
        </p:nvSpPr>
        <p:spPr>
          <a:xfrm>
            <a:off x="6946875" y="1816175"/>
            <a:ext cx="919296" cy="523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2600" cap="flat" cmpd="sng">
            <a:solidFill>
              <a:srgbClr val="0000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719" marR="0" lvl="0" indent="-334799" algn="ctr" rtl="0">
              <a:spcBef>
                <a:spcPts val="298"/>
              </a:spcBef>
              <a:spcAft>
                <a:spcPts val="0"/>
              </a:spcAft>
              <a:buNone/>
            </a:pPr>
            <a:r>
              <a:rPr lang="en-GB" sz="1200" b="1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4076</a:t>
            </a: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56"/>
          <p:cNvSpPr/>
          <p:nvPr/>
        </p:nvSpPr>
        <p:spPr>
          <a:xfrm>
            <a:off x="5959550" y="2595124"/>
            <a:ext cx="994518" cy="523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2600" cap="flat" cmpd="sng">
            <a:solidFill>
              <a:srgbClr val="0000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719" marR="0" lvl="0" indent="-334799" algn="ctr" rtl="0">
              <a:spcBef>
                <a:spcPts val="298"/>
              </a:spcBef>
              <a:spcAft>
                <a:spcPts val="0"/>
              </a:spcAft>
              <a:buNone/>
            </a:pPr>
            <a:r>
              <a:rPr lang="en-GB" sz="1200" b="1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4</a:t>
            </a: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6"/>
          <p:cNvSpPr/>
          <p:nvPr/>
        </p:nvSpPr>
        <p:spPr>
          <a:xfrm>
            <a:off x="7161125" y="3364028"/>
            <a:ext cx="919296" cy="523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2600" cap="flat" cmpd="sng">
            <a:solidFill>
              <a:srgbClr val="0000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r>
              <a:rPr lang="en-GB" sz="1200" b="1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719" marR="0" lvl="0" indent="-334799" algn="ctr" rtl="0">
              <a:spcBef>
                <a:spcPts val="275"/>
              </a:spcBef>
              <a:spcAft>
                <a:spcPts val="0"/>
              </a:spcAft>
              <a:buNone/>
            </a:pPr>
            <a:r>
              <a:rPr lang="en-GB" sz="1200" b="1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&lt;= 48</a:t>
            </a:r>
            <a:endParaRPr sz="1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56"/>
          <p:cNvSpPr/>
          <p:nvPr/>
        </p:nvSpPr>
        <p:spPr>
          <a:xfrm>
            <a:off x="5610115" y="3752626"/>
            <a:ext cx="752273" cy="345270"/>
          </a:xfrm>
          <a:custGeom>
            <a:avLst/>
            <a:gdLst/>
            <a:ahLst/>
            <a:cxnLst/>
            <a:rect l="l" t="t" r="r" b="b"/>
            <a:pathLst>
              <a:path w="1907" h="966" extrusionOk="0">
                <a:moveTo>
                  <a:pt x="161" y="0"/>
                </a:moveTo>
                <a:cubicBezTo>
                  <a:pt x="80" y="0"/>
                  <a:pt x="0" y="80"/>
                  <a:pt x="0" y="161"/>
                </a:cubicBezTo>
                <a:lnTo>
                  <a:pt x="0" y="804"/>
                </a:lnTo>
                <a:cubicBezTo>
                  <a:pt x="0" y="884"/>
                  <a:pt x="80" y="965"/>
                  <a:pt x="161" y="965"/>
                </a:cubicBezTo>
                <a:lnTo>
                  <a:pt x="1745" y="965"/>
                </a:lnTo>
                <a:cubicBezTo>
                  <a:pt x="1825" y="965"/>
                  <a:pt x="1906" y="884"/>
                  <a:pt x="1906" y="804"/>
                </a:cubicBezTo>
                <a:lnTo>
                  <a:pt x="1906" y="161"/>
                </a:lnTo>
                <a:cubicBezTo>
                  <a:pt x="1906" y="80"/>
                  <a:pt x="1825" y="0"/>
                  <a:pt x="1745" y="0"/>
                </a:cubicBezTo>
                <a:lnTo>
                  <a:pt x="161" y="0"/>
                </a:lnTo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GB"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GB"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52" name="Google Shape;452;p56"/>
          <p:cNvSpPr/>
          <p:nvPr/>
        </p:nvSpPr>
        <p:spPr>
          <a:xfrm>
            <a:off x="8085952" y="2576509"/>
            <a:ext cx="752274" cy="378923"/>
          </a:xfrm>
          <a:custGeom>
            <a:avLst/>
            <a:gdLst/>
            <a:ahLst/>
            <a:cxnLst/>
            <a:rect l="l" t="t" r="r" b="b"/>
            <a:pathLst>
              <a:path w="1906" h="1061" extrusionOk="0">
                <a:moveTo>
                  <a:pt x="176" y="0"/>
                </a:moveTo>
                <a:cubicBezTo>
                  <a:pt x="88" y="0"/>
                  <a:pt x="0" y="88"/>
                  <a:pt x="0" y="176"/>
                </a:cubicBezTo>
                <a:lnTo>
                  <a:pt x="0" y="883"/>
                </a:lnTo>
                <a:cubicBezTo>
                  <a:pt x="0" y="971"/>
                  <a:pt x="88" y="1060"/>
                  <a:pt x="176" y="1060"/>
                </a:cubicBezTo>
                <a:lnTo>
                  <a:pt x="1729" y="1060"/>
                </a:lnTo>
                <a:cubicBezTo>
                  <a:pt x="1817" y="1060"/>
                  <a:pt x="1905" y="971"/>
                  <a:pt x="1905" y="883"/>
                </a:cubicBezTo>
                <a:lnTo>
                  <a:pt x="1905" y="176"/>
                </a:lnTo>
                <a:cubicBezTo>
                  <a:pt x="1905" y="88"/>
                  <a:pt x="1817" y="0"/>
                  <a:pt x="1729" y="0"/>
                </a:cubicBezTo>
                <a:lnTo>
                  <a:pt x="176" y="0"/>
                </a:lnTo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1</a:t>
            </a: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56"/>
          <p:cNvSpPr/>
          <p:nvPr/>
        </p:nvSpPr>
        <p:spPr>
          <a:xfrm>
            <a:off x="6051184" y="1912694"/>
            <a:ext cx="817722" cy="33528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56"/>
          <p:cNvSpPr/>
          <p:nvPr/>
        </p:nvSpPr>
        <p:spPr>
          <a:xfrm>
            <a:off x="7434384" y="1863675"/>
            <a:ext cx="826308" cy="33528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56"/>
          <p:cNvSpPr/>
          <p:nvPr/>
        </p:nvSpPr>
        <p:spPr>
          <a:xfrm>
            <a:off x="6228885" y="3691081"/>
            <a:ext cx="817722" cy="33528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56"/>
          <p:cNvSpPr/>
          <p:nvPr/>
        </p:nvSpPr>
        <p:spPr>
          <a:xfrm>
            <a:off x="7699856" y="3692155"/>
            <a:ext cx="826308" cy="33528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56"/>
          <p:cNvSpPr/>
          <p:nvPr/>
        </p:nvSpPr>
        <p:spPr>
          <a:xfrm>
            <a:off x="5118753" y="3190152"/>
            <a:ext cx="817722" cy="33528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56"/>
          <p:cNvSpPr/>
          <p:nvPr/>
        </p:nvSpPr>
        <p:spPr>
          <a:xfrm>
            <a:off x="6572736" y="2650850"/>
            <a:ext cx="826308" cy="33528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719" marR="0" lvl="0" indent="-334799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6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56"/>
          <p:cNvSpPr/>
          <p:nvPr/>
        </p:nvSpPr>
        <p:spPr>
          <a:xfrm>
            <a:off x="8080419" y="4253564"/>
            <a:ext cx="752273" cy="345270"/>
          </a:xfrm>
          <a:custGeom>
            <a:avLst/>
            <a:gdLst/>
            <a:ahLst/>
            <a:cxnLst/>
            <a:rect l="l" t="t" r="r" b="b"/>
            <a:pathLst>
              <a:path w="1907" h="966" extrusionOk="0">
                <a:moveTo>
                  <a:pt x="161" y="0"/>
                </a:moveTo>
                <a:cubicBezTo>
                  <a:pt x="80" y="0"/>
                  <a:pt x="0" y="80"/>
                  <a:pt x="0" y="161"/>
                </a:cubicBezTo>
                <a:lnTo>
                  <a:pt x="0" y="804"/>
                </a:lnTo>
                <a:cubicBezTo>
                  <a:pt x="0" y="884"/>
                  <a:pt x="80" y="965"/>
                  <a:pt x="161" y="965"/>
                </a:cubicBezTo>
                <a:lnTo>
                  <a:pt x="1745" y="965"/>
                </a:lnTo>
                <a:cubicBezTo>
                  <a:pt x="1825" y="965"/>
                  <a:pt x="1906" y="884"/>
                  <a:pt x="1906" y="804"/>
                </a:cubicBezTo>
                <a:lnTo>
                  <a:pt x="1906" y="161"/>
                </a:lnTo>
                <a:cubicBezTo>
                  <a:pt x="1906" y="80"/>
                  <a:pt x="1825" y="0"/>
                  <a:pt x="1745" y="0"/>
                </a:cubicBezTo>
                <a:lnTo>
                  <a:pt x="161" y="0"/>
                </a:lnTo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GB"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56"/>
          <p:cNvSpPr/>
          <p:nvPr/>
        </p:nvSpPr>
        <p:spPr>
          <a:xfrm>
            <a:off x="6421897" y="4263916"/>
            <a:ext cx="752273" cy="345309"/>
          </a:xfrm>
          <a:custGeom>
            <a:avLst/>
            <a:gdLst/>
            <a:ahLst/>
            <a:cxnLst/>
            <a:rect l="l" t="t" r="r" b="b"/>
            <a:pathLst>
              <a:path w="1907" h="966" extrusionOk="0">
                <a:moveTo>
                  <a:pt x="161" y="0"/>
                </a:moveTo>
                <a:cubicBezTo>
                  <a:pt x="80" y="0"/>
                  <a:pt x="0" y="80"/>
                  <a:pt x="0" y="161"/>
                </a:cubicBezTo>
                <a:lnTo>
                  <a:pt x="0" y="804"/>
                </a:lnTo>
                <a:cubicBezTo>
                  <a:pt x="0" y="884"/>
                  <a:pt x="80" y="965"/>
                  <a:pt x="161" y="965"/>
                </a:cubicBezTo>
                <a:lnTo>
                  <a:pt x="1745" y="965"/>
                </a:lnTo>
                <a:cubicBezTo>
                  <a:pt x="1825" y="965"/>
                  <a:pt x="1906" y="884"/>
                  <a:pt x="1906" y="804"/>
                </a:cubicBezTo>
                <a:lnTo>
                  <a:pt x="1906" y="161"/>
                </a:lnTo>
                <a:cubicBezTo>
                  <a:pt x="1906" y="80"/>
                  <a:pt x="1825" y="0"/>
                  <a:pt x="1745" y="0"/>
                </a:cubicBezTo>
                <a:lnTo>
                  <a:pt x="161" y="0"/>
                </a:lnTo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GB"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56"/>
          <p:cNvSpPr txBox="1">
            <a:spLocks noGrp="1"/>
          </p:cNvSpPr>
          <p:nvPr>
            <p:ph type="body" idx="1"/>
          </p:nvPr>
        </p:nvSpPr>
        <p:spPr>
          <a:xfrm>
            <a:off x="729450" y="1462650"/>
            <a:ext cx="4515000" cy="34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Decision tree can be converted to set of rules.</a:t>
            </a: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400"/>
              <a:t>Our example DT gives total of 4 rules :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D2 &gt;= 4076, then the drug is active. 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D2 &lt; 4076 AND D1 &lt; 4, then the drug is inactive. 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D2 &lt; 4076, D1 &gt;=4 AND D3 &gt; 48, then the drug is active.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-GB" sz="1400"/>
              <a:t>D2 &lt; 4076, D1 &gt;=4 AND D3 &lt;= 48, then the drug is inactive.</a:t>
            </a:r>
            <a:endParaRPr sz="14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7"/>
          <p:cNvSpPr txBox="1">
            <a:spLocks noGrp="1"/>
          </p:cNvSpPr>
          <p:nvPr>
            <p:ph type="title"/>
          </p:nvPr>
        </p:nvSpPr>
        <p:spPr>
          <a:xfrm>
            <a:off x="729450" y="7293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Splitting Criteria</a:t>
            </a:r>
            <a:endParaRPr/>
          </a:p>
        </p:txBody>
      </p:sp>
      <p:sp>
        <p:nvSpPr>
          <p:cNvPr id="467" name="Google Shape;467;p57"/>
          <p:cNvSpPr txBox="1">
            <a:spLocks noGrp="1"/>
          </p:cNvSpPr>
          <p:nvPr>
            <p:ph type="body" idx="1"/>
          </p:nvPr>
        </p:nvSpPr>
        <p:spPr>
          <a:xfrm>
            <a:off x="729450" y="1462650"/>
            <a:ext cx="4515000" cy="34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Decided based on following measures at each split: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Impurity</a:t>
            </a:r>
            <a:endParaRPr sz="1400"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Gini index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Added information</a:t>
            </a:r>
            <a:endParaRPr sz="1400"/>
          </a:p>
          <a:p>
            <a:pPr marL="914400" lvl="1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en-GB" sz="1400"/>
              <a:t>Information Gain</a:t>
            </a:r>
            <a:endParaRPr sz="1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8"/>
          <p:cNvSpPr txBox="1">
            <a:spLocks noGrp="1"/>
          </p:cNvSpPr>
          <p:nvPr>
            <p:ph type="title"/>
          </p:nvPr>
        </p:nvSpPr>
        <p:spPr>
          <a:xfrm>
            <a:off x="729450" y="7293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Gini Index</a:t>
            </a:r>
            <a:endParaRPr/>
          </a:p>
        </p:txBody>
      </p:sp>
      <p:sp>
        <p:nvSpPr>
          <p:cNvPr id="473" name="Google Shape;473;p58"/>
          <p:cNvSpPr txBox="1">
            <a:spLocks noGrp="1"/>
          </p:cNvSpPr>
          <p:nvPr>
            <p:ph type="body" idx="1"/>
          </p:nvPr>
        </p:nvSpPr>
        <p:spPr>
          <a:xfrm>
            <a:off x="729450" y="1234050"/>
            <a:ext cx="76887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Gini Index for a child node, t</a:t>
            </a: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400"/>
          </a:p>
        </p:txBody>
      </p:sp>
      <p:sp>
        <p:nvSpPr>
          <p:cNvPr id="474" name="Google Shape;474;p58"/>
          <p:cNvSpPr txBox="1">
            <a:spLocks noGrp="1"/>
          </p:cNvSpPr>
          <p:nvPr>
            <p:ph type="body" idx="1"/>
          </p:nvPr>
        </p:nvSpPr>
        <p:spPr>
          <a:xfrm>
            <a:off x="729450" y="2300850"/>
            <a:ext cx="7688700" cy="13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where,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     = number of examples at node t belonging to class i.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   = total number of examples at node t.</a:t>
            </a: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400"/>
              <a:t>Gini Index for a split</a:t>
            </a:r>
            <a:endParaRPr sz="1400"/>
          </a:p>
        </p:txBody>
      </p:sp>
      <p:pic>
        <p:nvPicPr>
          <p:cNvPr id="475" name="Google Shape;475;p58"/>
          <p:cNvPicPr preferRelativeResize="0"/>
          <p:nvPr/>
        </p:nvPicPr>
        <p:blipFill rotWithShape="1">
          <a:blip r:embed="rId3">
            <a:alphaModFix/>
          </a:blip>
          <a:srcRect l="16949" t="41049" r="17984" b="31590"/>
          <a:stretch/>
        </p:blipFill>
        <p:spPr>
          <a:xfrm>
            <a:off x="1081400" y="2778750"/>
            <a:ext cx="367375" cy="2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8"/>
          <p:cNvPicPr preferRelativeResize="0"/>
          <p:nvPr/>
        </p:nvPicPr>
        <p:blipFill rotWithShape="1">
          <a:blip r:embed="rId4">
            <a:alphaModFix/>
          </a:blip>
          <a:srcRect l="36198" t="34972" r="36048" b="20242"/>
          <a:stretch/>
        </p:blipFill>
        <p:spPr>
          <a:xfrm>
            <a:off x="1081400" y="3052476"/>
            <a:ext cx="284199" cy="2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65850" y="1644925"/>
            <a:ext cx="2736048" cy="73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65848" y="3493676"/>
            <a:ext cx="2499324" cy="81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58"/>
          <p:cNvPicPr preferRelativeResize="0"/>
          <p:nvPr/>
        </p:nvPicPr>
        <p:blipFill rotWithShape="1">
          <a:blip r:embed="rId7">
            <a:alphaModFix/>
          </a:blip>
          <a:srcRect l="35330" t="35658" r="36751" b="20955"/>
          <a:stretch/>
        </p:blipFill>
        <p:spPr>
          <a:xfrm>
            <a:off x="1081400" y="4439748"/>
            <a:ext cx="284200" cy="197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58"/>
          <p:cNvPicPr preferRelativeResize="0"/>
          <p:nvPr/>
        </p:nvPicPr>
        <p:blipFill rotWithShape="1">
          <a:blip r:embed="rId7">
            <a:alphaModFix/>
          </a:blip>
          <a:srcRect l="35330" t="35658" r="44234" b="20955"/>
          <a:stretch/>
        </p:blipFill>
        <p:spPr>
          <a:xfrm>
            <a:off x="1046650" y="4686300"/>
            <a:ext cx="208025" cy="19797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8"/>
          <p:cNvSpPr txBox="1">
            <a:spLocks noGrp="1"/>
          </p:cNvSpPr>
          <p:nvPr>
            <p:ph type="body" idx="1"/>
          </p:nvPr>
        </p:nvSpPr>
        <p:spPr>
          <a:xfrm>
            <a:off x="729450" y="3932975"/>
            <a:ext cx="7688700" cy="9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where,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     = number of examples at node t belonging to class i.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   = total number of examples at node t.</a:t>
            </a:r>
            <a:endParaRPr sz="14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9"/>
          <p:cNvSpPr txBox="1">
            <a:spLocks noGrp="1"/>
          </p:cNvSpPr>
          <p:nvPr>
            <p:ph type="title"/>
          </p:nvPr>
        </p:nvSpPr>
        <p:spPr>
          <a:xfrm>
            <a:off x="729450" y="7293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Information Gain</a:t>
            </a:r>
            <a:endParaRPr/>
          </a:p>
        </p:txBody>
      </p:sp>
      <p:sp>
        <p:nvSpPr>
          <p:cNvPr id="487" name="Google Shape;487;p59"/>
          <p:cNvSpPr txBox="1">
            <a:spLocks noGrp="1"/>
          </p:cNvSpPr>
          <p:nvPr>
            <p:ph type="body" idx="1"/>
          </p:nvPr>
        </p:nvSpPr>
        <p:spPr>
          <a:xfrm>
            <a:off x="729450" y="1234050"/>
            <a:ext cx="76887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Entropy of a node, t</a:t>
            </a: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400"/>
          </a:p>
        </p:txBody>
      </p:sp>
      <p:sp>
        <p:nvSpPr>
          <p:cNvPr id="488" name="Google Shape;488;p59"/>
          <p:cNvSpPr txBox="1">
            <a:spLocks noGrp="1"/>
          </p:cNvSpPr>
          <p:nvPr>
            <p:ph type="body" idx="1"/>
          </p:nvPr>
        </p:nvSpPr>
        <p:spPr>
          <a:xfrm>
            <a:off x="729450" y="2300850"/>
            <a:ext cx="7688700" cy="13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where,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     = number of examples at node t belonging to class i.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   = total number of examples at node t.</a:t>
            </a: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400"/>
              <a:t>Information gain for a split</a:t>
            </a:r>
            <a:endParaRPr sz="1400"/>
          </a:p>
        </p:txBody>
      </p:sp>
      <p:pic>
        <p:nvPicPr>
          <p:cNvPr id="489" name="Google Shape;489;p59"/>
          <p:cNvPicPr preferRelativeResize="0"/>
          <p:nvPr/>
        </p:nvPicPr>
        <p:blipFill rotWithShape="1">
          <a:blip r:embed="rId3">
            <a:alphaModFix/>
          </a:blip>
          <a:srcRect l="16949" t="41049" r="17984" b="31590"/>
          <a:stretch/>
        </p:blipFill>
        <p:spPr>
          <a:xfrm>
            <a:off x="1081400" y="2778750"/>
            <a:ext cx="367375" cy="2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59"/>
          <p:cNvPicPr preferRelativeResize="0"/>
          <p:nvPr/>
        </p:nvPicPr>
        <p:blipFill rotWithShape="1">
          <a:blip r:embed="rId4">
            <a:alphaModFix/>
          </a:blip>
          <a:srcRect l="36198" t="34972" r="36048" b="20242"/>
          <a:stretch/>
        </p:blipFill>
        <p:spPr>
          <a:xfrm>
            <a:off x="1081400" y="3052476"/>
            <a:ext cx="284199" cy="2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2325" y="1338544"/>
            <a:ext cx="3126377" cy="1035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3325" y="3438450"/>
            <a:ext cx="4464374" cy="107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Performance Measure</a:t>
            </a:r>
            <a:endParaRPr/>
          </a:p>
        </p:txBody>
      </p:sp>
      <p:sp>
        <p:nvSpPr>
          <p:cNvPr id="498" name="Google Shape;498;p60"/>
          <p:cNvSpPr txBox="1">
            <a:spLocks noGrp="1"/>
          </p:cNvSpPr>
          <p:nvPr>
            <p:ph type="body" idx="1"/>
          </p:nvPr>
        </p:nvSpPr>
        <p:spPr>
          <a:xfrm>
            <a:off x="4079550" y="2078875"/>
            <a:ext cx="4338600" cy="22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 b="1">
                <a:solidFill>
                  <a:srgbClr val="000000"/>
                </a:solidFill>
              </a:rPr>
              <a:t>F1-Score : </a:t>
            </a:r>
            <a:r>
              <a:rPr lang="en-GB" sz="1100">
                <a:solidFill>
                  <a:srgbClr val="000000"/>
                </a:solidFill>
              </a:rPr>
              <a:t>Harmonic mean of Precision &amp; Recall.</a:t>
            </a:r>
            <a:endParaRPr sz="1100">
              <a:solidFill>
                <a:srgbClr val="000000"/>
              </a:solidFill>
            </a:endParaRPr>
          </a:p>
        </p:txBody>
      </p:sp>
      <p:pic>
        <p:nvPicPr>
          <p:cNvPr id="499" name="Google Shape;499;p60"/>
          <p:cNvPicPr preferRelativeResize="0"/>
          <p:nvPr/>
        </p:nvPicPr>
        <p:blipFill rotWithShape="1">
          <a:blip r:embed="rId3">
            <a:alphaModFix/>
          </a:blip>
          <a:srcRect l="10686" t="23599" r="14007"/>
          <a:stretch/>
        </p:blipFill>
        <p:spPr>
          <a:xfrm>
            <a:off x="101991" y="2175825"/>
            <a:ext cx="3658099" cy="20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1749" y="2978125"/>
            <a:ext cx="3218825" cy="94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</a:t>
            </a:r>
            <a:endParaRPr/>
          </a:p>
        </p:txBody>
      </p:sp>
      <p:sp>
        <p:nvSpPr>
          <p:cNvPr id="506" name="Google Shape;506;p61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Easy to Understand &amp; Interpret</a:t>
            </a: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No Feature Scaling Required</a:t>
            </a: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Handles Non linear data</a:t>
            </a: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2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Disadvantages</a:t>
            </a:r>
            <a:endParaRPr/>
          </a:p>
        </p:txBody>
      </p:sp>
      <p:sp>
        <p:nvSpPr>
          <p:cNvPr id="512" name="Google Shape;512;p62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Prone to overfitting</a:t>
            </a:r>
            <a:endParaRPr sz="12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High Variance</a:t>
            </a:r>
            <a:endParaRPr sz="12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Unstable with noisy data</a:t>
            </a:r>
            <a:endParaRPr sz="12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Applications:</a:t>
            </a:r>
            <a:endParaRPr/>
          </a:p>
        </p:txBody>
      </p:sp>
      <p:sp>
        <p:nvSpPr>
          <p:cNvPr id="518" name="Google Shape;518;p6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Medical diagnosis</a:t>
            </a: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Credit approval</a:t>
            </a: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Sales forecasting</a:t>
            </a: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Customer churn predictions</a:t>
            </a: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4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Overpass"/>
                <a:ea typeface="Overpass"/>
                <a:cs typeface="Overpass"/>
                <a:sym typeface="Overpass"/>
              </a:rPr>
              <a:t>Bias Variance Trade-off</a:t>
            </a:r>
            <a:endParaRPr sz="44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Prediction Error in ML</a:t>
            </a:r>
            <a:endParaRPr/>
          </a:p>
        </p:txBody>
      </p:sp>
      <p:sp>
        <p:nvSpPr>
          <p:cNvPr id="529" name="Google Shape;529;p6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When a model makes wrong predictions, it creates error.</a:t>
            </a: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Total error comes from different sources.</a:t>
            </a: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Two main sources are Bias and Variance.</a:t>
            </a:r>
            <a:endParaRPr sz="1200" i="1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Bias?</a:t>
            </a:r>
            <a:endParaRPr/>
          </a:p>
        </p:txBody>
      </p:sp>
      <p:sp>
        <p:nvSpPr>
          <p:cNvPr id="535" name="Google Shape;535;p6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3930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Bias happens when a model is too simple.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It makes strong assumptions about data.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High bias models underfit the data.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Examples</a:t>
            </a:r>
            <a:endParaRPr b="1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Using a straight line for complex data.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Model ignores important patterns.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Training and test accuracy both are low.</a:t>
            </a:r>
            <a:endParaRPr/>
          </a:p>
        </p:txBody>
      </p:sp>
      <p:pic>
        <p:nvPicPr>
          <p:cNvPr id="536" name="Google Shape;536;p66"/>
          <p:cNvPicPr preferRelativeResize="0"/>
          <p:nvPr/>
        </p:nvPicPr>
        <p:blipFill rotWithShape="1">
          <a:blip r:embed="rId3">
            <a:alphaModFix/>
          </a:blip>
          <a:srcRect t="39135" b="28448"/>
          <a:stretch/>
        </p:blipFill>
        <p:spPr>
          <a:xfrm>
            <a:off x="4846100" y="2469900"/>
            <a:ext cx="3920075" cy="9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Variance?</a:t>
            </a:r>
            <a:endParaRPr/>
          </a:p>
        </p:txBody>
      </p:sp>
      <p:sp>
        <p:nvSpPr>
          <p:cNvPr id="542" name="Google Shape;542;p67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Variance happens when a model is too complex.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It learns noise from training data.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High variance models overfit the data.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Very deep decision tree.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Excellent training accuracy.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Poor performance on new data.</a:t>
            </a:r>
            <a:endParaRPr/>
          </a:p>
        </p:txBody>
      </p:sp>
      <p:pic>
        <p:nvPicPr>
          <p:cNvPr id="543" name="Google Shape;543;p67"/>
          <p:cNvPicPr preferRelativeResize="0"/>
          <p:nvPr/>
        </p:nvPicPr>
        <p:blipFill rotWithShape="1">
          <a:blip r:embed="rId3">
            <a:alphaModFix/>
          </a:blip>
          <a:srcRect t="41642" b="31441"/>
          <a:stretch/>
        </p:blipFill>
        <p:spPr>
          <a:xfrm>
            <a:off x="4603151" y="2571750"/>
            <a:ext cx="4134399" cy="8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Bias vs Variance</a:t>
            </a:r>
            <a:endParaRPr/>
          </a:p>
        </p:txBody>
      </p:sp>
      <p:sp>
        <p:nvSpPr>
          <p:cNvPr id="549" name="Google Shape;549;p6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High Bias → Underfitting.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High Variance → Overfitting.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Both reduce model performance.</a:t>
            </a:r>
            <a:endParaRPr/>
          </a:p>
        </p:txBody>
      </p:sp>
      <p:pic>
        <p:nvPicPr>
          <p:cNvPr id="550" name="Google Shape;55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3051" y="492275"/>
            <a:ext cx="5180948" cy="465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Bias–Variance Trade-off</a:t>
            </a:r>
            <a:endParaRPr/>
          </a:p>
        </p:txBody>
      </p:sp>
      <p:sp>
        <p:nvSpPr>
          <p:cNvPr id="556" name="Google Shape;556;p6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3692700" cy="22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Reducing bias increases variance.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Reducing variance increases bias.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Goal is to balance both.</a:t>
            </a:r>
            <a:endParaRPr/>
          </a:p>
        </p:txBody>
      </p:sp>
      <p:pic>
        <p:nvPicPr>
          <p:cNvPr id="557" name="Google Shape;55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550" y="1794275"/>
            <a:ext cx="4823451" cy="334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Complexity Effect</a:t>
            </a:r>
            <a:endParaRPr/>
          </a:p>
        </p:txBody>
      </p:sp>
      <p:sp>
        <p:nvSpPr>
          <p:cNvPr id="563" name="Google Shape;563;p70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Simple model → High Bias, Low Variance.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Complex model → Low Bias, High Variance.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Best model lies in between.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Reduce Bias</a:t>
            </a:r>
            <a:endParaRPr/>
          </a:p>
        </p:txBody>
      </p:sp>
      <p:sp>
        <p:nvSpPr>
          <p:cNvPr id="569" name="Google Shape;569;p71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Use more complex models.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Add more features.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Reduce regularization.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2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Reduce Variance</a:t>
            </a:r>
            <a:endParaRPr/>
          </a:p>
        </p:txBody>
      </p:sp>
      <p:sp>
        <p:nvSpPr>
          <p:cNvPr id="575" name="Google Shape;575;p72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Use more training data.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Apply regularization.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Use ensemble methods like Bagging.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581" name="Google Shape;581;p7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Bias and variance cause prediction errors.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Simple models → Bias problem.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Complex models → Variance problem.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Balanced model gives best performance.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Underfitting?</a:t>
            </a:r>
            <a:endParaRPr/>
          </a:p>
        </p:txBody>
      </p:sp>
      <p:sp>
        <p:nvSpPr>
          <p:cNvPr id="587" name="Google Shape;587;p7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3726600" cy="22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Model is too simple to capture patterns.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High bias, low variance.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Poor performance on training and test data.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Using a straight line for curved data.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Low training accuracy.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Low test accuracy.</a:t>
            </a:r>
            <a:endParaRPr/>
          </a:p>
        </p:txBody>
      </p:sp>
      <p:pic>
        <p:nvPicPr>
          <p:cNvPr id="588" name="Google Shape;588;p74"/>
          <p:cNvPicPr preferRelativeResize="0"/>
          <p:nvPr/>
        </p:nvPicPr>
        <p:blipFill rotWithShape="1">
          <a:blip r:embed="rId3">
            <a:alphaModFix/>
          </a:blip>
          <a:srcRect l="4442" t="23599" r="7930"/>
          <a:stretch/>
        </p:blipFill>
        <p:spPr>
          <a:xfrm>
            <a:off x="4628600" y="1802500"/>
            <a:ext cx="4515398" cy="262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Overfitting?</a:t>
            </a:r>
            <a:endParaRPr/>
          </a:p>
        </p:txBody>
      </p:sp>
      <p:sp>
        <p:nvSpPr>
          <p:cNvPr id="594" name="Google Shape;594;p7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3842700" cy="22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Model is too complex.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Learns noise from training data.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High variance, low bias.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Very deep decision tree.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Very high training accuracy.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Poor test accuracy.</a:t>
            </a:r>
            <a:endParaRPr/>
          </a:p>
        </p:txBody>
      </p:sp>
      <p:pic>
        <p:nvPicPr>
          <p:cNvPr id="595" name="Google Shape;595;p75"/>
          <p:cNvPicPr preferRelativeResize="0"/>
          <p:nvPr/>
        </p:nvPicPr>
        <p:blipFill rotWithShape="1">
          <a:blip r:embed="rId3">
            <a:alphaModFix/>
          </a:blip>
          <a:srcRect l="4442" t="23599" r="7930"/>
          <a:stretch/>
        </p:blipFill>
        <p:spPr>
          <a:xfrm>
            <a:off x="4628600" y="1802500"/>
            <a:ext cx="4515398" cy="262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Fix Underfitting</a:t>
            </a:r>
            <a:endParaRPr/>
          </a:p>
        </p:txBody>
      </p:sp>
      <p:sp>
        <p:nvSpPr>
          <p:cNvPr id="601" name="Google Shape;601;p7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Use more complex model.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Add more features.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Reduce regularization.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Fix Overfitting</a:t>
            </a:r>
            <a:endParaRPr/>
          </a:p>
        </p:txBody>
      </p:sp>
      <p:sp>
        <p:nvSpPr>
          <p:cNvPr id="607" name="Google Shape;607;p77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Use more data.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Apply regularization.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Use ensemble methods like Bagging.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8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Overpass"/>
                <a:ea typeface="Overpass"/>
                <a:cs typeface="Overpass"/>
                <a:sym typeface="Overpass"/>
              </a:rPr>
              <a:t>Bagging</a:t>
            </a:r>
            <a:endParaRPr sz="44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an ensemble</a:t>
            </a:r>
            <a:endParaRPr/>
          </a:p>
        </p:txBody>
      </p:sp>
      <p:sp>
        <p:nvSpPr>
          <p:cNvPr id="618" name="Google Shape;618;p7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An ensemble means using a group instead of a single one to make a decision.</a:t>
            </a: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verpass"/>
              <a:buChar char="●"/>
            </a:pPr>
            <a:r>
              <a:rPr lang="en-GB" sz="12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Instead of trusting one model, we trust many models together.</a:t>
            </a: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 i="1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“Ensemble learning is a technique where multiple models are combined to make a final prediction that is better than any single model.”</a:t>
            </a:r>
            <a:endParaRPr sz="1200" i="1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Bagging?</a:t>
            </a:r>
            <a:endParaRPr/>
          </a:p>
        </p:txBody>
      </p:sp>
      <p:sp>
        <p:nvSpPr>
          <p:cNvPr id="624" name="Google Shape;624;p80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Bagging stands for Bootstrap Aggregating.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It is an ensemble learning technique.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Multiple models are trained instead of one.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8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Do We Use Bagging?</a:t>
            </a:r>
            <a:endParaRPr/>
          </a:p>
        </p:txBody>
      </p:sp>
      <p:sp>
        <p:nvSpPr>
          <p:cNvPr id="630" name="Google Shape;630;p81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Single models can overfit the data.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Bagging reduces overfitting.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It improves accuracy and stability.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82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Bootstrap Sampling</a:t>
            </a:r>
            <a:endParaRPr/>
          </a:p>
        </p:txBody>
      </p:sp>
      <p:sp>
        <p:nvSpPr>
          <p:cNvPr id="636" name="Google Shape;636;p82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2597700" cy="28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Random samples are created with replacement.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Same data point can appear multiple times.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Each model sees slightly different data.</a:t>
            </a:r>
            <a:endParaRPr/>
          </a:p>
        </p:txBody>
      </p:sp>
      <p:pic>
        <p:nvPicPr>
          <p:cNvPr id="637" name="Google Shape;637;p82"/>
          <p:cNvPicPr preferRelativeResize="0"/>
          <p:nvPr/>
        </p:nvPicPr>
        <p:blipFill rotWithShape="1">
          <a:blip r:embed="rId3">
            <a:alphaModFix/>
          </a:blip>
          <a:srcRect r="28433" b="32212"/>
          <a:stretch/>
        </p:blipFill>
        <p:spPr>
          <a:xfrm>
            <a:off x="3327150" y="1886738"/>
            <a:ext cx="5816852" cy="301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3"/>
          <p:cNvSpPr txBox="1">
            <a:spLocks noGrp="1"/>
          </p:cNvSpPr>
          <p:nvPr>
            <p:ph type="title"/>
          </p:nvPr>
        </p:nvSpPr>
        <p:spPr>
          <a:xfrm>
            <a:off x="729450" y="7293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Bagging (training)</a:t>
            </a:r>
            <a:endParaRPr/>
          </a:p>
        </p:txBody>
      </p:sp>
      <p:pic>
        <p:nvPicPr>
          <p:cNvPr id="643" name="Google Shape;64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938" y="1264575"/>
            <a:ext cx="7289374" cy="321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83"/>
          <p:cNvSpPr txBox="1">
            <a:spLocks noGrp="1"/>
          </p:cNvSpPr>
          <p:nvPr>
            <p:ph type="body" idx="1"/>
          </p:nvPr>
        </p:nvSpPr>
        <p:spPr>
          <a:xfrm>
            <a:off x="2690100" y="4667700"/>
            <a:ext cx="1842300" cy="475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Create multiple random samples from training data.</a:t>
            </a:r>
            <a:endParaRPr/>
          </a:p>
        </p:txBody>
      </p:sp>
      <p:sp>
        <p:nvSpPr>
          <p:cNvPr id="645" name="Google Shape;645;p83"/>
          <p:cNvSpPr txBox="1">
            <a:spLocks noGrp="1"/>
          </p:cNvSpPr>
          <p:nvPr>
            <p:ph type="body" idx="1"/>
          </p:nvPr>
        </p:nvSpPr>
        <p:spPr>
          <a:xfrm>
            <a:off x="5295400" y="4667700"/>
            <a:ext cx="1842300" cy="475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en-GB" sz="1010"/>
              <a:t>Train a separate model on each sample.</a:t>
            </a:r>
            <a:endParaRPr sz="1010"/>
          </a:p>
        </p:txBody>
      </p:sp>
      <p:sp>
        <p:nvSpPr>
          <p:cNvPr id="646" name="Google Shape;646;p83"/>
          <p:cNvSpPr txBox="1">
            <a:spLocks noGrp="1"/>
          </p:cNvSpPr>
          <p:nvPr>
            <p:ph type="body" idx="1"/>
          </p:nvPr>
        </p:nvSpPr>
        <p:spPr>
          <a:xfrm>
            <a:off x="7301700" y="4667700"/>
            <a:ext cx="1842300" cy="475800"/>
          </a:xfrm>
          <a:prstGeom prst="rect">
            <a:avLst/>
          </a:prstGeom>
          <a:ln w="9525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en-GB" sz="1010"/>
              <a:t>Get Final Prediction by Voting</a:t>
            </a:r>
            <a:endParaRPr sz="101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84"/>
          <p:cNvSpPr txBox="1">
            <a:spLocks noGrp="1"/>
          </p:cNvSpPr>
          <p:nvPr>
            <p:ph type="title"/>
          </p:nvPr>
        </p:nvSpPr>
        <p:spPr>
          <a:xfrm>
            <a:off x="729450" y="7293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Bagging (inference)</a:t>
            </a:r>
            <a:endParaRPr/>
          </a:p>
        </p:txBody>
      </p:sp>
      <p:pic>
        <p:nvPicPr>
          <p:cNvPr id="652" name="Google Shape;65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950" y="1479575"/>
            <a:ext cx="6964099" cy="306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8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Prediction in Classification</a:t>
            </a:r>
            <a:endParaRPr/>
          </a:p>
        </p:txBody>
      </p:sp>
      <p:sp>
        <p:nvSpPr>
          <p:cNvPr id="658" name="Google Shape;658;p8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Each model gives a class prediction.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Final output is decided by majority voting.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Class with maximum votes is selected.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Suppose we train 5 decision trees.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Predictions: Yes, Yes, No, Yes, No.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Final prediction: Yes (majority vote).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8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Advantages of Bagging</a:t>
            </a:r>
            <a:endParaRPr/>
          </a:p>
        </p:txBody>
      </p:sp>
      <p:sp>
        <p:nvSpPr>
          <p:cNvPr id="664" name="Google Shape;664;p8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Reduces overfitting.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Works well with high variance models.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Improves prediction accuracy.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8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Bagging</a:t>
            </a:r>
            <a:endParaRPr/>
          </a:p>
        </p:txBody>
      </p:sp>
      <p:sp>
        <p:nvSpPr>
          <p:cNvPr id="670" name="Google Shape;670;p87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Less improvement for low-variance models.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Increases computation cost.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Model interpretability is reduced.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2853</Words>
  <Application>Microsoft Office PowerPoint</Application>
  <PresentationFormat>On-screen Show (16:9)</PresentationFormat>
  <Paragraphs>602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1" baseType="lpstr">
      <vt:lpstr>Arial</vt:lpstr>
      <vt:lpstr>Raleway</vt:lpstr>
      <vt:lpstr>Overpass</vt:lpstr>
      <vt:lpstr>Verdana</vt:lpstr>
      <vt:lpstr>Calibri</vt:lpstr>
      <vt:lpstr>Lato</vt:lpstr>
      <vt:lpstr>Streamline</vt:lpstr>
      <vt:lpstr>K-Nearest Neighbors (KNN)</vt:lpstr>
      <vt:lpstr>Assumptions of KNN</vt:lpstr>
      <vt:lpstr>Euclidean Distance</vt:lpstr>
      <vt:lpstr>Voting in KNN</vt:lpstr>
      <vt:lpstr>KNN Algorithm Steps</vt:lpstr>
      <vt:lpstr>Other Distance Metrics</vt:lpstr>
      <vt:lpstr>Distance for Categorical Variables</vt:lpstr>
      <vt:lpstr>Confusion Matrix</vt:lpstr>
      <vt:lpstr>Choosing Best K Value</vt:lpstr>
      <vt:lpstr>Advantages of KNN</vt:lpstr>
      <vt:lpstr>Disadvantages of KNN</vt:lpstr>
      <vt:lpstr>Applications of KNN</vt:lpstr>
      <vt:lpstr>Naive Bayes Algorithm for Classification</vt:lpstr>
      <vt:lpstr>Introduction</vt:lpstr>
      <vt:lpstr>Assumptions</vt:lpstr>
      <vt:lpstr>Understanding Bayes’ Theorem</vt:lpstr>
      <vt:lpstr>PowerPoint Presentation</vt:lpstr>
      <vt:lpstr>Assumption of Feature Independence</vt:lpstr>
      <vt:lpstr>Compute Prior Probabilities</vt:lpstr>
      <vt:lpstr>Compute Likelihood P(X∣y)</vt:lpstr>
      <vt:lpstr>Compute Likelihood P(X∣y)</vt:lpstr>
      <vt:lpstr>Compute Posterior </vt:lpstr>
      <vt:lpstr>Compute Posterior for New Data</vt:lpstr>
      <vt:lpstr>Compute Posterior Probabilities</vt:lpstr>
      <vt:lpstr>Performance Measure</vt:lpstr>
      <vt:lpstr>Advantage</vt:lpstr>
      <vt:lpstr>Disadvantages</vt:lpstr>
      <vt:lpstr>Common Applications:</vt:lpstr>
      <vt:lpstr>Cross Validation</vt:lpstr>
      <vt:lpstr>What is Cross Validation &amp; Why it is needed</vt:lpstr>
      <vt:lpstr>Types of Cross Validation (CV)</vt:lpstr>
      <vt:lpstr>Hold-Out Validation (Train–Test Split)</vt:lpstr>
      <vt:lpstr>K-Fold CV</vt:lpstr>
      <vt:lpstr>Stratified K-Fold CV</vt:lpstr>
      <vt:lpstr>Leave-One-Out CV(LOOCV)</vt:lpstr>
      <vt:lpstr>Time Series CV</vt:lpstr>
      <vt:lpstr>Decision Tree</vt:lpstr>
      <vt:lpstr>Assumptions</vt:lpstr>
      <vt:lpstr>Decision Tree</vt:lpstr>
      <vt:lpstr>Decision Tree</vt:lpstr>
      <vt:lpstr>Which attribute to use to split and split point</vt:lpstr>
      <vt:lpstr>Multiple Decision Tree</vt:lpstr>
      <vt:lpstr>Decision Tree to Rules</vt:lpstr>
      <vt:lpstr>Splitting Criteria</vt:lpstr>
      <vt:lpstr>Gini Index</vt:lpstr>
      <vt:lpstr>Information Gain</vt:lpstr>
      <vt:lpstr>Performance Measure</vt:lpstr>
      <vt:lpstr>Advantage</vt:lpstr>
      <vt:lpstr>Disadvantages</vt:lpstr>
      <vt:lpstr>Common Applications:</vt:lpstr>
      <vt:lpstr>Bias Variance Trade-off</vt:lpstr>
      <vt:lpstr>Prediction Error in ML</vt:lpstr>
      <vt:lpstr>What is Bias?</vt:lpstr>
      <vt:lpstr>What is Variance?</vt:lpstr>
      <vt:lpstr>Bias vs Variance</vt:lpstr>
      <vt:lpstr>Bias–Variance Trade-off</vt:lpstr>
      <vt:lpstr>Model Complexity Effect</vt:lpstr>
      <vt:lpstr>How to Reduce Bias</vt:lpstr>
      <vt:lpstr>How to Reduce Variance</vt:lpstr>
      <vt:lpstr>Summary</vt:lpstr>
      <vt:lpstr>What is Underfitting?</vt:lpstr>
      <vt:lpstr>What is Overfitting?</vt:lpstr>
      <vt:lpstr>How to Fix Underfitting</vt:lpstr>
      <vt:lpstr>How to Fix Overfitting</vt:lpstr>
      <vt:lpstr>Bagging</vt:lpstr>
      <vt:lpstr>What is an ensemble</vt:lpstr>
      <vt:lpstr>What is Bagging?</vt:lpstr>
      <vt:lpstr>Why Do We Use Bagging?</vt:lpstr>
      <vt:lpstr>Bootstrap Sampling</vt:lpstr>
      <vt:lpstr>Bagging (training)</vt:lpstr>
      <vt:lpstr>Bagging (inference)</vt:lpstr>
      <vt:lpstr>Prediction in Classification</vt:lpstr>
      <vt:lpstr>Advantages of Bagging</vt:lpstr>
      <vt:lpstr>Limitations of Bagging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K-Nearest Neighbors (KNN)</dc:title>
  <cp:lastModifiedBy>Prasad Ovhal</cp:lastModifiedBy>
  <cp:revision>1</cp:revision>
  <dcterms:modified xsi:type="dcterms:W3CDTF">2026-02-07T06:12:18Z</dcterms:modified>
</cp:coreProperties>
</file>